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78" r:id="rId7"/>
    <p:sldId id="279" r:id="rId8"/>
    <p:sldId id="277" r:id="rId9"/>
    <p:sldId id="264" r:id="rId10"/>
    <p:sldId id="276" r:id="rId11"/>
    <p:sldId id="266" r:id="rId12"/>
    <p:sldId id="265" r:id="rId13"/>
    <p:sldId id="267" r:id="rId14"/>
    <p:sldId id="269" r:id="rId16"/>
    <p:sldId id="270" r:id="rId17"/>
    <p:sldId id="271" r:id="rId18"/>
    <p:sldId id="280" r:id="rId28"/>
    <p:sldId id="273" r:id="rId20"/>
    <p:sldId id="274" r:id="rId21"/>
    <p:sldId id="281" r:id="rId19"/>
    <p:sldId id="282" r:id="rId15"/>
    <p:sldId id="283" r:id="rId29"/>
    <p:sldId id="284" r:id="rId30"/>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B6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snapToGrid="0" snapToObjects="1">
      <p:cViewPr>
        <p:scale>
          <a:sx n="75" d="100"/>
          <a:sy n="75" d="100"/>
        </p:scale>
        <p:origin x="9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21.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20.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4.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17.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6864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This paper proposes </a:t>
            </a:r>
            <a:r>
              <a:rPr dirty="0" err="1"/>
              <a:t>WaveCatBoost</a:t>
            </a:r>
            <a:r>
              <a:rPr dirty="0"/>
              <a:t>, a hybrid model for forecasting air pollutant levels. The core idea has three parts: MODWT to decompose the signal, CatBoost to forecast each component, and conformal prediction to quantify uncertainty. In short: decompose the air-quality signal, forecast each component, reconstruct the signal, and quantify uncertainty.</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Air-quality data is not a simple smooth sequence. A pollutant signal mixes fast variations, medium-scale patterns such as daily cycles, a long-term trend, and noise. Spikes happen suddenly, the dynamics change over time, and the link between past and future is nonlinear. Instead of forcing one model to learn every behaviour in the raw signal, the paper asks whether we can first separate the signal into simpler components.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Traditional forecasting struggles with nonlinear, nonstationary pollutant dynamics. Deep learning models complex temporal dependencies, but training and prediction cost is a problem for real-time use. Conventional boosting is efficient, but on sequential data it suffers from prediction shift, or target leakage. </a:t>
            </a:r>
            <a:r>
              <a:rPr dirty="0" err="1"/>
              <a:t>WaveCatBoost</a:t>
            </a:r>
            <a:r>
              <a:rPr dirty="0"/>
              <a:t> decomposes the signal first, uses CatBoost with ordered boosting, and adds conformal prediction for a prediction interval.</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Two real-world datasets are used, both from Meghalaya in India. CPCB is the Central Pollution Control Board sensor network. ID1 is a low-cost air-quality sensor system. Data runs from July 2022 to July 2023 with 15-minute observations. Four forecast horizons are tested: 1, 7, 14 and 31 days, for six pollutants.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The purpose of preprocessing is to turn irregular, noisy raw sensor observations into a consistent hourly forecasting series. Missing values are handled by imputation, four 15-minute readings are averaged into one hourly value, and min-max normalisation scales every series to the range zero to one.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In the direct approach, one model must learn noise, short-term variation, trend and seasonality all at once. In </a:t>
            </a:r>
            <a:r>
              <a:rPr dirty="0" err="1"/>
              <a:t>WaveCatBoost</a:t>
            </a:r>
            <a:r>
              <a:rPr dirty="0"/>
              <a:t>, MODWT first splits the signal, and a separate CatBoost model forecasts each component. One difficult problem becomes several simpler forecasting problems, and the component forecasts are then recombined.</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A1E89-2B47-6FF6-200E-EAF78BA61E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44195-8945-862C-A329-AC6EF195B3D5}"/>
              </a:ext>
            </a:extLst>
          </p:cNvPr>
          <p:cNvSpPr>
            <a:spLocks noGrp="1" noRot="1" noChangeAspect="1"/>
          </p:cNvSpPr>
          <p:nvPr>
            <p:ph type="sldImg" idx="2"/>
          </p:nvPr>
        </p:nvSpPr>
        <p:spPr/>
        <p:txBody>
          <a:bodyPr/>
          <a:lstStyle/>
          <a:p>
            <a:endParaRPr lang="en-IN"/>
          </a:p>
        </p:txBody>
      </p:sp>
      <p:sp>
        <p:nvSpPr>
          <p:cNvPr id="3" name="Notes Placeholder 2">
            <a:extLst>
              <a:ext uri="{FF2B5EF4-FFF2-40B4-BE49-F238E27FC236}">
                <a16:creationId xmlns:a16="http://schemas.microsoft.com/office/drawing/2014/main" id="{C027C449-5C4F-66C4-1491-BDC0E787A693}"/>
              </a:ext>
            </a:extLst>
          </p:cNvPr>
          <p:cNvSpPr>
            <a:spLocks noGrp="1"/>
          </p:cNvSpPr>
          <p:nvPr>
            <p:ph type="body" sz="quarter" idx="3"/>
          </p:nvPr>
        </p:nvSpPr>
        <p:spPr/>
        <p:txBody>
          <a:bodyPr/>
          <a:lstStyle/>
          <a:p>
            <a:r>
              <a:rPr dirty="0"/>
              <a:t>In the direct approach, one model must learn noise, short-term variation, trend and seasonality all at once. In </a:t>
            </a:r>
            <a:r>
              <a:rPr dirty="0" err="1"/>
              <a:t>WaveCatBoost</a:t>
            </a:r>
            <a:r>
              <a:rPr dirty="0"/>
              <a:t>, MODWT first splits the signal, and a separate CatBoost model forecasts each component. One difficult problem becomes several simpler forecasting problems, and the component forecasts are then recombined.</a:t>
            </a:r>
          </a:p>
        </p:txBody>
      </p:sp>
      <p:sp>
        <p:nvSpPr>
          <p:cNvPr id="4" name="Slide Number Placeholder 3">
            <a:extLst>
              <a:ext uri="{FF2B5EF4-FFF2-40B4-BE49-F238E27FC236}">
                <a16:creationId xmlns:a16="http://schemas.microsoft.com/office/drawing/2014/main" id="{CA5B5E18-26B8-91A0-39EB-B4A9BDA39D4C}"/>
              </a:ext>
            </a:extLst>
          </p:cNvPr>
          <p:cNvSpPr>
            <a:spLocks noGrp="1"/>
          </p:cNvSpPr>
          <p:nvPr>
            <p:ph type="sldNum" sz="quarter" idx="5"/>
          </p:nvPr>
        </p:nvSpPr>
        <p:spPr/>
        <p:txBody>
          <a:bodyPr/>
          <a:lstStyle/>
          <a:p>
            <a:endParaRPr lang="en-IN"/>
          </a:p>
        </p:txBody>
      </p:sp>
    </p:spTree>
    <p:extLst>
      <p:ext uri="{BB962C8B-B14F-4D97-AF65-F5344CB8AC3E}">
        <p14:creationId xmlns:p14="http://schemas.microsoft.com/office/powerpoint/2010/main" val="2204279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When predicting Y at time t, the model may only use information available before t. Using future information would cause temporal leakage. CatBoost trains on time-dependent permutations of the data, and the gradient for each point is computed with a supporting model that only saw earlier points. This reduces prediction shift. It does not remove the need for a proper chronological train/test split or careful lag construction.</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CatBoost is a gradient-boosted decision-tree model. Trees are added one at a time, each scaled by a learning rate. For every wavelet component, a separate CatBoost model takes the last p lagged values of that component and predicts its next value. The same is done for the smooth component.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Here is the whole pipeline. Raw data is preprocessed and decomposed by MODWT. Each component gets its own CatBoost model. The component forecasts are combined with the inverse MODWT to give the final forecast, and conformal prediction adds a prediction interval. In one line: decompose, forecast, reconstruct, quantify uncertainty.</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The processed data is hourly, so a one-day forecast is 24 steps, seven days is 168 steps, fourteen days is 336 and thirty-one days is 744. The model forecasts one step, feeds that forecast back in as an input, and repeats. This is a simple way to reach long horizons, but an error in an early step can carry forward into later ones.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A point forecast gives one number, but we also want to know how uncertain it is. The conformal score divides the absolute prediction error by an estimated uncertainty scale, so it is a normalised error score. Conformal prediction does not need to assume a particular distribution, such as normal errors.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Air-quality behaviour is nonstationary, so the paper uses only a recent window of length kappa to compute the conformal quantile. The interval is the forecast plus or minus the quantile times the uncertainty scale. With alpha equal to 0.05 the nominal level is 95 percent. The band is more informative than a single prediction because it tells us how much uncertainty surrounds the forecast.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is how I would evaluate the method. First, a fair setup: split the data in time, training on earlier months and testing on later ones, and give every model the same inputs. With four horizons, six pollutants and two sensors that is 48 test cases. Second, each forecast is scored with MASE: the model's mean absolute error divided by the error of a seasonal naive forecast, which simply repeats the value from the same hour yesterday. Lower is better, below one means we beat the naive forecast, and because it is scaled we can compare pollutants with different units. For example, an error of 3 against a naive error of 5 gives a MASE of 0.6. Third, a small MASE gap could be luck, so I would use the MCB test: rank the models in each case, average the ranks, and put an interval around each average. The grey band is the best model's interval; any model whose interval stays above it is significantly worse. The chart is only a schematic of how to read the test.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Strengths: multiscale representation from MODWT, nonlinear forecasting from CatBoost, prediction intervals from conformal prediction, and a broad comparison against ML and deep learning models. Limitations: both datasets are from Meghalaya, no spatial relationships between stations, only the Haar wavelet is used with no wider wavelet comparison, recursive forecasts can propagate errors, and there is no detailed deployment latency benchmark. The authors name spatial dependencies as future work.</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Remember the paper in four steps. Decompose the signal with MODWT. Forecast each component with its own CatBoost model. Reconstruct the forecast with the inverse MODWT. Quantify uncertainty with a conformal prediction interval. The central idea is simple: separate the complicated air-quality signal into temporal components, forecast them individually, reconstruct the signal, and measure how uncertain the forecast is. Thank you.</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Here is the whole method on one concrete case. A CPCB sensor reports PM2.5 every fifteen minutes, and we want the next hour with a 95 percent range. First, preprocessing: the four readings in hour eight, 27, 26, 25 and 26, average to 26, and the series is min-max scaled. Second, Haar MODWT splits the last eight hours into a fast component D1, a medium component D2 and a smooth trend S2; every column adds back exactly to the observed value. Third, a separate CatBoost model takes the last three values of each component and predicts its next value: 0.25, minus 0.75 and 24.5. Fourth, the inverse MODWT recombines them into 24 micrograms per cubic metre. For longer horizons this forecast is fed back in as if it were data, and the process repeats; 24 steps give one day. Fifth, conformal prediction: from recent errors, normalised by the uncertainty scale, the 95th-percentile score is 1.95. With a current scale of 2, the margin is 3.9, so the forecast is 24 with a range of 20.1 to 27.9. When the real value of 25 arrives it falls inside the band, and its score joins the window for the next forecast. The decomposition is exact; the CatBoost outputs and uncertainty values are illustrative.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31.png"/><Relationship Id="rId7" Type="http://schemas.openxmlformats.org/officeDocument/2006/relationships/image" Target="../media/image37.png"/><Relationship Id="rId8"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71600"/>
            <a:ext cx="12191695" cy="2286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00200"/>
            <a:ext cx="10789920" cy="1188720"/>
          </a:xfrm>
          <a:prstGeom prst="rect">
            <a:avLst/>
          </a:prstGeom>
          <a:noFill/>
        </p:spPr>
        <p:txBody>
          <a:bodyPr wrap="square">
            <a:spAutoFit/>
          </a:bodyPr>
          <a:lstStyle/>
          <a:p>
            <a:pPr algn="l">
              <a:spcAft>
                <a:spcPts val="600"/>
              </a:spcAft>
            </a:pPr>
            <a:r>
              <a:rPr sz="3400" b="1" i="0">
                <a:solidFill>
                  <a:srgbClr val="FFFFFF"/>
                </a:solidFill>
                <a:latin typeface="Calibri"/>
              </a:rPr>
              <a:t>A Novel Hybrid Approach for Efficiently Forecasting Air Quality Data</a:t>
            </a:r>
          </a:p>
        </p:txBody>
      </p:sp>
      <p:sp>
        <p:nvSpPr>
          <p:cNvPr id="4" name="TextBox 3"/>
          <p:cNvSpPr txBox="1"/>
          <p:nvPr/>
        </p:nvSpPr>
        <p:spPr>
          <a:xfrm>
            <a:off x="731520" y="2788920"/>
            <a:ext cx="10789920" cy="640080"/>
          </a:xfrm>
          <a:prstGeom prst="rect">
            <a:avLst/>
          </a:prstGeom>
          <a:noFill/>
        </p:spPr>
        <p:txBody>
          <a:bodyPr wrap="square">
            <a:spAutoFit/>
          </a:bodyPr>
          <a:lstStyle/>
          <a:p>
            <a:pPr algn="l">
              <a:spcAft>
                <a:spcPts val="600"/>
              </a:spcAft>
            </a:pPr>
            <a:r>
              <a:rPr sz="2100" b="0" i="0" dirty="0" err="1">
                <a:solidFill>
                  <a:srgbClr val="FFFFFF"/>
                </a:solidFill>
                <a:latin typeface="Calibri"/>
              </a:rPr>
              <a:t>WaveCatBoost</a:t>
            </a:r>
            <a:r>
              <a:rPr sz="2100" b="0" i="0" dirty="0">
                <a:solidFill>
                  <a:srgbClr val="FFFFFF"/>
                </a:solidFill>
                <a:latin typeface="Calibri"/>
              </a:rPr>
              <a:t>: Wavelet-Based CatBoost for Air-Quality Forecasting</a:t>
            </a:r>
          </a:p>
        </p:txBody>
      </p:sp>
      <p:sp>
        <p:nvSpPr>
          <p:cNvPr id="5" name="TextBox 4"/>
          <p:cNvSpPr txBox="1"/>
          <p:nvPr/>
        </p:nvSpPr>
        <p:spPr>
          <a:xfrm>
            <a:off x="731520" y="3886200"/>
            <a:ext cx="10789920" cy="914400"/>
          </a:xfrm>
          <a:prstGeom prst="rect">
            <a:avLst/>
          </a:prstGeom>
          <a:noFill/>
        </p:spPr>
        <p:txBody>
          <a:bodyPr wrap="square">
            <a:spAutoFit/>
          </a:bodyPr>
          <a:lstStyle/>
          <a:p>
            <a:pPr algn="l">
              <a:spcAft>
                <a:spcPts val="600"/>
              </a:spcAft>
            </a:pPr>
            <a:r>
              <a:rPr sz="1500" b="0" i="0">
                <a:solidFill>
                  <a:srgbClr val="6B6B6B"/>
                </a:solidFill>
                <a:latin typeface="Calibri"/>
              </a:rPr>
              <a:t>Jintu Borah, Tanujit Chakraborty, Md. Shahrul Md. Nadzir, Mylene G. Cayetano, Francesco Benedetto, Shubhankar Majumdar</a:t>
            </a:r>
          </a:p>
          <a:p>
            <a:pPr algn="l">
              <a:spcAft>
                <a:spcPts val="600"/>
              </a:spcAft>
            </a:pPr>
            <a:r>
              <a:rPr sz="1500" b="0" i="0">
                <a:solidFill>
                  <a:srgbClr val="6B6B6B"/>
                </a:solidFill>
                <a:latin typeface="Calibri"/>
              </a:rPr>
              <a:t>IEEE Sensors Letters, Vol. 9, No. 1, 2025</a:t>
            </a:r>
          </a:p>
        </p:txBody>
      </p:sp>
      <p:sp>
        <p:nvSpPr>
          <p:cNvPr id="6" name="Rectangle 5"/>
          <p:cNvSpPr/>
          <p:nvPr/>
        </p:nvSpPr>
        <p:spPr>
          <a:xfrm>
            <a:off x="731520" y="4983480"/>
            <a:ext cx="2377440" cy="86868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Air-quality sensor</a:t>
            </a:r>
          </a:p>
        </p:txBody>
      </p:sp>
      <p:cxnSp>
        <p:nvCxnSpPr>
          <p:cNvPr id="7" name="Connector 6"/>
          <p:cNvCxnSpPr/>
          <p:nvPr/>
        </p:nvCxnSpPr>
        <p:spPr>
          <a:xfrm>
            <a:off x="3108960" y="541782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566160" y="4983480"/>
            <a:ext cx="2377440" cy="86868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Time-series signal</a:t>
            </a:r>
          </a:p>
        </p:txBody>
      </p:sp>
      <p:cxnSp>
        <p:nvCxnSpPr>
          <p:cNvPr id="9" name="Connector 8"/>
          <p:cNvCxnSpPr/>
          <p:nvPr/>
        </p:nvCxnSpPr>
        <p:spPr>
          <a:xfrm>
            <a:off x="5943600" y="541782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400800" y="4983480"/>
            <a:ext cx="2377440" cy="86868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dirty="0" err="1">
                <a:solidFill>
                  <a:srgbClr val="FFFFFF"/>
                </a:solidFill>
                <a:latin typeface="Calibri"/>
              </a:rPr>
              <a:t>WaveCatBoost</a:t>
            </a:r>
            <a:endParaRPr sz="1500" b="1" i="0" dirty="0">
              <a:solidFill>
                <a:srgbClr val="FFFFFF"/>
              </a:solidFill>
              <a:latin typeface="Calibri"/>
            </a:endParaRPr>
          </a:p>
          <a:p>
            <a:pPr algn="ctr"/>
            <a:r>
              <a:rPr sz="1500" b="1" i="0" dirty="0">
                <a:solidFill>
                  <a:srgbClr val="FFFFFF"/>
                </a:solidFill>
                <a:latin typeface="Calibri"/>
              </a:rPr>
              <a:t>(MODWT + CatBoost)</a:t>
            </a:r>
          </a:p>
        </p:txBody>
      </p:sp>
      <p:cxnSp>
        <p:nvCxnSpPr>
          <p:cNvPr id="11" name="Connector 10"/>
          <p:cNvCxnSpPr/>
          <p:nvPr/>
        </p:nvCxnSpPr>
        <p:spPr>
          <a:xfrm>
            <a:off x="8778240" y="541782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9235440" y="4983480"/>
            <a:ext cx="2377440" cy="86868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Forecast +</a:t>
            </a:r>
          </a:p>
          <a:p>
            <a:pPr algn="ctr"/>
            <a:r>
              <a:rPr sz="1500" b="1" i="0">
                <a:solidFill>
                  <a:srgbClr val="1F3A5F"/>
                </a:solidFill>
                <a:latin typeface="Calibri"/>
              </a:rPr>
              <a:t>uncertainty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Why Is Air-Quality Forecasting Difficult?</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2</a:t>
            </a:r>
          </a:p>
        </p:txBody>
      </p:sp>
      <p:pic>
        <p:nvPicPr>
          <p:cNvPr id="6" name="Picture 5" descr="eq_01.png"/>
          <p:cNvPicPr>
            <a:picLocks noChangeAspect="1"/>
          </p:cNvPicPr>
          <p:nvPr/>
        </p:nvPicPr>
        <p:blipFill>
          <a:blip r:embed="rId3"/>
          <a:stretch>
            <a:fillRect/>
          </a:stretch>
        </p:blipFill>
        <p:spPr>
          <a:xfrm>
            <a:off x="548640" y="1371600"/>
            <a:ext cx="5160264" cy="347472"/>
          </a:xfrm>
          <a:prstGeom prst="rect">
            <a:avLst/>
          </a:prstGeom>
        </p:spPr>
      </p:pic>
      <p:sp>
        <p:nvSpPr>
          <p:cNvPr id="7" name="TextBox 6"/>
          <p:cNvSpPr txBox="1"/>
          <p:nvPr/>
        </p:nvSpPr>
        <p:spPr>
          <a:xfrm>
            <a:off x="548640" y="2148840"/>
            <a:ext cx="5394960" cy="2560320"/>
          </a:xfrm>
          <a:prstGeom prst="rect">
            <a:avLst/>
          </a:prstGeom>
          <a:noFill/>
        </p:spPr>
        <p:txBody>
          <a:bodyPr wrap="square">
            <a:spAutoFit/>
          </a:bodyPr>
          <a:lstStyle/>
          <a:p>
            <a:pPr algn="l">
              <a:spcAft>
                <a:spcPts val="1000"/>
              </a:spcAft>
            </a:pPr>
            <a:r>
              <a:rPr sz="1900" b="0" i="0">
                <a:solidFill>
                  <a:srgbClr val="262626"/>
                </a:solidFill>
                <a:latin typeface="Calibri"/>
              </a:rPr>
              <a:t>•  Sudden pollution spikes can occur</a:t>
            </a:r>
          </a:p>
          <a:p>
            <a:pPr algn="l">
              <a:spcAft>
                <a:spcPts val="1000"/>
              </a:spcAft>
            </a:pPr>
            <a:r>
              <a:rPr sz="1900" b="0" i="0">
                <a:solidFill>
                  <a:srgbClr val="262626"/>
                </a:solidFill>
                <a:latin typeface="Calibri"/>
              </a:rPr>
              <a:t>•  Daily and seasonal behaviour appears</a:t>
            </a:r>
          </a:p>
          <a:p>
            <a:pPr algn="l">
              <a:spcAft>
                <a:spcPts val="1000"/>
              </a:spcAft>
            </a:pPr>
            <a:r>
              <a:rPr sz="1900" b="0" i="0">
                <a:solidFill>
                  <a:srgbClr val="262626"/>
                </a:solidFill>
                <a:latin typeface="Calibri"/>
              </a:rPr>
              <a:t>•  The underlying dynamics change over time</a:t>
            </a:r>
          </a:p>
          <a:p>
            <a:pPr algn="l">
              <a:spcAft>
                <a:spcPts val="1000"/>
              </a:spcAft>
            </a:pPr>
            <a:r>
              <a:rPr sz="1900" b="0" i="0">
                <a:solidFill>
                  <a:srgbClr val="262626"/>
                </a:solidFill>
                <a:latin typeface="Calibri"/>
              </a:rPr>
              <a:t>•  Past-to-future relationship is nonlinear</a:t>
            </a:r>
          </a:p>
        </p:txBody>
      </p:sp>
      <p:sp>
        <p:nvSpPr>
          <p:cNvPr id="8" name="Rectangle 7"/>
          <p:cNvSpPr/>
          <p:nvPr/>
        </p:nvSpPr>
        <p:spPr>
          <a:xfrm>
            <a:off x="548640" y="4343400"/>
            <a:ext cx="5394960" cy="11430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a:solidFill>
                  <a:srgbClr val="1F3A5F"/>
                </a:solidFill>
                <a:latin typeface="Calibri"/>
              </a:rPr>
              <a:t>Main question</a:t>
            </a:r>
          </a:p>
          <a:p>
            <a:pPr algn="l">
              <a:spcBef>
                <a:spcPts val="400"/>
              </a:spcBef>
            </a:pPr>
            <a:r>
              <a:rPr sz="1700" b="0" i="0">
                <a:solidFill>
                  <a:srgbClr val="262626"/>
                </a:solidFill>
                <a:latin typeface="Calibri"/>
              </a:rPr>
              <a:t>Can we separate these different patterns before forecasting?</a:t>
            </a:r>
          </a:p>
        </p:txBody>
      </p:sp>
      <p:pic>
        <p:nvPicPr>
          <p:cNvPr id="9" name="Picture 8" descr="s2_signal.png"/>
          <p:cNvPicPr>
            <a:picLocks noChangeAspect="1"/>
          </p:cNvPicPr>
          <p:nvPr/>
        </p:nvPicPr>
        <p:blipFill>
          <a:blip r:embed="rId4"/>
          <a:stretch>
            <a:fillRect/>
          </a:stretch>
        </p:blipFill>
        <p:spPr>
          <a:xfrm>
            <a:off x="6217920" y="1325880"/>
            <a:ext cx="5394960" cy="3082834"/>
          </a:xfrm>
          <a:prstGeom prst="rect">
            <a:avLst/>
          </a:prstGeom>
        </p:spPr>
      </p:pic>
      <p:sp>
        <p:nvSpPr>
          <p:cNvPr id="10" name="TextBox 9"/>
          <p:cNvSpPr txBox="1"/>
          <p:nvPr/>
        </p:nvSpPr>
        <p:spPr>
          <a:xfrm>
            <a:off x="6217920" y="4480560"/>
            <a:ext cx="5394960" cy="365760"/>
          </a:xfrm>
          <a:prstGeom prst="rect">
            <a:avLst/>
          </a:prstGeom>
          <a:noFill/>
        </p:spPr>
        <p:txBody>
          <a:bodyPr wrap="square">
            <a:spAutoFit/>
          </a:bodyPr>
          <a:lstStyle/>
          <a:p>
            <a:pPr algn="l">
              <a:spcAft>
                <a:spcPts val="600"/>
              </a:spcAft>
            </a:pPr>
            <a:r>
              <a:rPr sz="1200" b="0" i="0">
                <a:solidFill>
                  <a:srgbClr val="6B6B6B"/>
                </a:solidFill>
                <a:latin typeface="Calibri"/>
              </a:rPr>
              <a:t>Illustrative synthetic signal, not data from the paper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Research Gap and Proposed Idea</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3</a:t>
            </a:r>
          </a:p>
        </p:txBody>
      </p:sp>
      <p:graphicFrame>
        <p:nvGraphicFramePr>
          <p:cNvPr id="6" name="Table 5"/>
          <p:cNvGraphicFramePr>
            <a:graphicFrameLocks noGrp="1"/>
          </p:cNvGraphicFramePr>
          <p:nvPr/>
        </p:nvGraphicFramePr>
        <p:xfrm>
          <a:off x="548640" y="1325880"/>
          <a:ext cx="11064240" cy="201168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502920">
                <a:tc>
                  <a:txBody>
                    <a:bodyPr/>
                    <a:lstStyle/>
                    <a:p>
                      <a:pPr algn="l"/>
                      <a:r>
                        <a:rPr sz="1600" b="1" i="0">
                          <a:solidFill>
                            <a:srgbClr val="FFFFFF"/>
                          </a:solidFill>
                          <a:latin typeface="Calibri"/>
                        </a:rPr>
                        <a:t>Existing approach</a:t>
                      </a:r>
                    </a:p>
                  </a:txBody>
                  <a:tcPr>
                    <a:solidFill>
                      <a:srgbClr val="1F3A5F"/>
                    </a:solidFill>
                  </a:tcPr>
                </a:tc>
                <a:tc>
                  <a:txBody>
                    <a:bodyPr/>
                    <a:lstStyle/>
                    <a:p>
                      <a:pPr algn="ctr"/>
                      <a:r>
                        <a:rPr sz="1600" b="1" i="0">
                          <a:solidFill>
                            <a:srgbClr val="FFFFFF"/>
                          </a:solidFill>
                          <a:latin typeface="Calibri"/>
                        </a:rPr>
                        <a:t>Main issue</a:t>
                      </a:r>
                    </a:p>
                  </a:txBody>
                  <a:tcPr>
                    <a:solidFill>
                      <a:srgbClr val="1F3A5F"/>
                    </a:solidFill>
                  </a:tcPr>
                </a:tc>
                <a:tc>
                  <a:txBody>
                    <a:bodyPr/>
                    <a:lstStyle/>
                    <a:p>
                      <a:pPr algn="ctr"/>
                      <a:r>
                        <a:rPr sz="1600" b="1" i="0">
                          <a:solidFill>
                            <a:srgbClr val="FFFFFF"/>
                          </a:solidFill>
                          <a:latin typeface="Calibri"/>
                        </a:rPr>
                        <a:t>WaveCatBoost response</a:t>
                      </a:r>
                    </a:p>
                  </a:txBody>
                  <a:tcPr>
                    <a:solidFill>
                      <a:srgbClr val="1F3A5F"/>
                    </a:solidFill>
                  </a:tcPr>
                </a:tc>
                <a:extLst>
                  <a:ext uri="{0D108BD9-81ED-4DB2-BD59-A6C34878D82A}">
                    <a16:rowId xmlns:a16="http://schemas.microsoft.com/office/drawing/2014/main" val="10000"/>
                  </a:ext>
                </a:extLst>
              </a:tr>
              <a:tr h="502920">
                <a:tc>
                  <a:txBody>
                    <a:bodyPr/>
                    <a:lstStyle/>
                    <a:p>
                      <a:pPr algn="l"/>
                      <a:r>
                        <a:rPr sz="1600" b="0" i="0">
                          <a:solidFill>
                            <a:srgbClr val="262626"/>
                          </a:solidFill>
                          <a:latin typeface="Calibri"/>
                        </a:rPr>
                        <a:t>Traditional forecasting</a:t>
                      </a:r>
                    </a:p>
                  </a:txBody>
                  <a:tcPr>
                    <a:solidFill>
                      <a:srgbClr val="FFFFFF"/>
                    </a:solidFill>
                  </a:tcPr>
                </a:tc>
                <a:tc>
                  <a:txBody>
                    <a:bodyPr/>
                    <a:lstStyle/>
                    <a:p>
                      <a:pPr algn="ctr"/>
                      <a:r>
                        <a:rPr sz="1600" b="0" i="0">
                          <a:solidFill>
                            <a:srgbClr val="262626"/>
                          </a:solidFill>
                          <a:latin typeface="Calibri"/>
                        </a:rPr>
                        <a:t>Nonlinear, nonstationary dynamics</a:t>
                      </a:r>
                    </a:p>
                  </a:txBody>
                  <a:tcPr>
                    <a:solidFill>
                      <a:srgbClr val="FFFFFF"/>
                    </a:solidFill>
                  </a:tcPr>
                </a:tc>
                <a:tc>
                  <a:txBody>
                    <a:bodyPr/>
                    <a:lstStyle/>
                    <a:p>
                      <a:pPr algn="ctr"/>
                      <a:r>
                        <a:rPr sz="1600" b="0" i="0">
                          <a:solidFill>
                            <a:srgbClr val="262626"/>
                          </a:solidFill>
                          <a:latin typeface="Calibri"/>
                        </a:rPr>
                        <a:t>Decompose the signal first (MODWT)</a:t>
                      </a:r>
                    </a:p>
                  </a:txBody>
                  <a:tcPr>
                    <a:solidFill>
                      <a:srgbClr val="FFFFFF"/>
                    </a:solidFill>
                  </a:tcPr>
                </a:tc>
                <a:extLst>
                  <a:ext uri="{0D108BD9-81ED-4DB2-BD59-A6C34878D82A}">
                    <a16:rowId xmlns:a16="http://schemas.microsoft.com/office/drawing/2014/main" val="10001"/>
                  </a:ext>
                </a:extLst>
              </a:tr>
              <a:tr h="502920">
                <a:tc>
                  <a:txBody>
                    <a:bodyPr/>
                    <a:lstStyle/>
                    <a:p>
                      <a:pPr algn="l"/>
                      <a:r>
                        <a:rPr sz="1600" b="0" i="0">
                          <a:solidFill>
                            <a:srgbClr val="262626"/>
                          </a:solidFill>
                          <a:latin typeface="Calibri"/>
                        </a:rPr>
                        <a:t>Deep learning</a:t>
                      </a:r>
                    </a:p>
                  </a:txBody>
                  <a:tcPr>
                    <a:solidFill>
                      <a:srgbClr val="EEF1F5"/>
                    </a:solidFill>
                  </a:tcPr>
                </a:tc>
                <a:tc>
                  <a:txBody>
                    <a:bodyPr/>
                    <a:lstStyle/>
                    <a:p>
                      <a:pPr algn="ctr"/>
                      <a:r>
                        <a:rPr sz="1600" b="0" i="0">
                          <a:solidFill>
                            <a:srgbClr val="262626"/>
                          </a:solidFill>
                          <a:latin typeface="Calibri"/>
                        </a:rPr>
                        <a:t>Training / prediction cost for real time</a:t>
                      </a:r>
                    </a:p>
                  </a:txBody>
                  <a:tcPr>
                    <a:solidFill>
                      <a:srgbClr val="EEF1F5"/>
                    </a:solidFill>
                  </a:tcPr>
                </a:tc>
                <a:tc>
                  <a:txBody>
                    <a:bodyPr/>
                    <a:lstStyle/>
                    <a:p>
                      <a:pPr algn="ctr"/>
                      <a:r>
                        <a:rPr sz="1600" b="0" i="0" dirty="0">
                          <a:solidFill>
                            <a:srgbClr val="262626"/>
                          </a:solidFill>
                          <a:latin typeface="Calibri"/>
                        </a:rPr>
                        <a:t>Fast tree-based CatBoost</a:t>
                      </a:r>
                    </a:p>
                  </a:txBody>
                  <a:tcPr>
                    <a:solidFill>
                      <a:srgbClr val="EEF1F5"/>
                    </a:solidFill>
                  </a:tcPr>
                </a:tc>
                <a:extLst>
                  <a:ext uri="{0D108BD9-81ED-4DB2-BD59-A6C34878D82A}">
                    <a16:rowId xmlns:a16="http://schemas.microsoft.com/office/drawing/2014/main" val="10002"/>
                  </a:ext>
                </a:extLst>
              </a:tr>
              <a:tr h="502920">
                <a:tc>
                  <a:txBody>
                    <a:bodyPr/>
                    <a:lstStyle/>
                    <a:p>
                      <a:pPr algn="l"/>
                      <a:r>
                        <a:rPr sz="1600" b="0" i="0">
                          <a:solidFill>
                            <a:srgbClr val="262626"/>
                          </a:solidFill>
                          <a:latin typeface="Calibri"/>
                        </a:rPr>
                        <a:t>Conventional boosting</a:t>
                      </a:r>
                    </a:p>
                  </a:txBody>
                  <a:tcPr>
                    <a:solidFill>
                      <a:srgbClr val="FFFFFF"/>
                    </a:solidFill>
                  </a:tcPr>
                </a:tc>
                <a:tc>
                  <a:txBody>
                    <a:bodyPr/>
                    <a:lstStyle/>
                    <a:p>
                      <a:pPr algn="ctr"/>
                      <a:r>
                        <a:rPr sz="1600" b="0" i="0">
                          <a:solidFill>
                            <a:srgbClr val="262626"/>
                          </a:solidFill>
                          <a:latin typeface="Calibri"/>
                        </a:rPr>
                        <a:t>Prediction shift / target leakage</a:t>
                      </a:r>
                    </a:p>
                  </a:txBody>
                  <a:tcPr>
                    <a:solidFill>
                      <a:srgbClr val="FFFFFF"/>
                    </a:solidFill>
                  </a:tcPr>
                </a:tc>
                <a:tc>
                  <a:txBody>
                    <a:bodyPr/>
                    <a:lstStyle/>
                    <a:p>
                      <a:pPr algn="ctr"/>
                      <a:r>
                        <a:rPr sz="1600" b="0" i="0" dirty="0">
                          <a:solidFill>
                            <a:srgbClr val="262626"/>
                          </a:solidFill>
                          <a:latin typeface="Calibri"/>
                        </a:rPr>
                        <a:t>Ordered boosting in CatBoost</a:t>
                      </a:r>
                    </a:p>
                  </a:txBody>
                  <a:tcP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548640" y="3703320"/>
            <a:ext cx="10972800" cy="457200"/>
          </a:xfrm>
          <a:prstGeom prst="rect">
            <a:avLst/>
          </a:prstGeom>
          <a:noFill/>
        </p:spPr>
        <p:txBody>
          <a:bodyPr wrap="square">
            <a:spAutoFit/>
          </a:bodyPr>
          <a:lstStyle/>
          <a:p>
            <a:pPr algn="l">
              <a:spcAft>
                <a:spcPts val="600"/>
              </a:spcAft>
            </a:pPr>
            <a:r>
              <a:rPr sz="1900" b="1" i="0">
                <a:solidFill>
                  <a:srgbClr val="1F3A5F"/>
                </a:solidFill>
                <a:latin typeface="Calibri"/>
              </a:rPr>
              <a:t>Proposed solution</a:t>
            </a:r>
          </a:p>
        </p:txBody>
      </p:sp>
      <p:sp>
        <p:nvSpPr>
          <p:cNvPr id="8" name="Rectangle 7"/>
          <p:cNvSpPr/>
          <p:nvPr/>
        </p:nvSpPr>
        <p:spPr>
          <a:xfrm>
            <a:off x="548640" y="4343400"/>
            <a:ext cx="1344168" cy="9144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Y(t)</a:t>
            </a:r>
          </a:p>
        </p:txBody>
      </p:sp>
      <p:cxnSp>
        <p:nvCxnSpPr>
          <p:cNvPr id="9" name="Connector 8"/>
          <p:cNvCxnSpPr/>
          <p:nvPr/>
        </p:nvCxnSpPr>
        <p:spPr>
          <a:xfrm>
            <a:off x="1892807" y="4800600"/>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167128" y="4343400"/>
            <a:ext cx="1344168" cy="91440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FFFFFF"/>
                </a:solidFill>
                <a:latin typeface="Calibri"/>
              </a:rPr>
              <a:t>MODWT</a:t>
            </a:r>
          </a:p>
        </p:txBody>
      </p:sp>
      <p:cxnSp>
        <p:nvCxnSpPr>
          <p:cNvPr id="11" name="Connector 10"/>
          <p:cNvCxnSpPr/>
          <p:nvPr/>
        </p:nvCxnSpPr>
        <p:spPr>
          <a:xfrm>
            <a:off x="3511296" y="4800600"/>
            <a:ext cx="274319"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785615" y="4343400"/>
            <a:ext cx="1344168" cy="9144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Components</a:t>
            </a:r>
          </a:p>
        </p:txBody>
      </p:sp>
      <p:cxnSp>
        <p:nvCxnSpPr>
          <p:cNvPr id="13" name="Connector 12"/>
          <p:cNvCxnSpPr/>
          <p:nvPr/>
        </p:nvCxnSpPr>
        <p:spPr>
          <a:xfrm>
            <a:off x="5129783" y="4800600"/>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404104" y="4343400"/>
            <a:ext cx="1344168" cy="91440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dirty="0">
                <a:solidFill>
                  <a:srgbClr val="FFFFFF"/>
                </a:solidFill>
                <a:latin typeface="Calibri"/>
              </a:rPr>
              <a:t>CatBoost</a:t>
            </a:r>
          </a:p>
        </p:txBody>
      </p:sp>
      <p:cxnSp>
        <p:nvCxnSpPr>
          <p:cNvPr id="15" name="Connector 14"/>
          <p:cNvCxnSpPr/>
          <p:nvPr/>
        </p:nvCxnSpPr>
        <p:spPr>
          <a:xfrm>
            <a:off x="6748272" y="4800600"/>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22592" y="4343400"/>
            <a:ext cx="1344168" cy="9144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Point</a:t>
            </a:r>
          </a:p>
          <a:p>
            <a:pPr algn="ctr"/>
            <a:r>
              <a:rPr sz="1500" b="1" i="0">
                <a:solidFill>
                  <a:srgbClr val="1F3A5F"/>
                </a:solidFill>
                <a:latin typeface="Calibri"/>
              </a:rPr>
              <a:t>forecast</a:t>
            </a:r>
          </a:p>
        </p:txBody>
      </p:sp>
      <p:cxnSp>
        <p:nvCxnSpPr>
          <p:cNvPr id="17" name="Connector 16"/>
          <p:cNvCxnSpPr/>
          <p:nvPr/>
        </p:nvCxnSpPr>
        <p:spPr>
          <a:xfrm>
            <a:off x="8366760" y="4800600"/>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8641080" y="4343400"/>
            <a:ext cx="1344168" cy="91440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FFFFFF"/>
                </a:solidFill>
                <a:latin typeface="Calibri"/>
              </a:rPr>
              <a:t>Conformal</a:t>
            </a:r>
          </a:p>
          <a:p>
            <a:pPr algn="ctr"/>
            <a:r>
              <a:rPr sz="1500" b="1" i="0">
                <a:solidFill>
                  <a:srgbClr val="FFFFFF"/>
                </a:solidFill>
                <a:latin typeface="Calibri"/>
              </a:rPr>
              <a:t>prediction</a:t>
            </a:r>
          </a:p>
        </p:txBody>
      </p:sp>
      <p:cxnSp>
        <p:nvCxnSpPr>
          <p:cNvPr id="19" name="Connector 18"/>
          <p:cNvCxnSpPr/>
          <p:nvPr/>
        </p:nvCxnSpPr>
        <p:spPr>
          <a:xfrm>
            <a:off x="9985248" y="4800600"/>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0259568" y="4343400"/>
            <a:ext cx="1344168" cy="9144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Prediction</a:t>
            </a:r>
          </a:p>
          <a:p>
            <a:pPr algn="ctr"/>
            <a:r>
              <a:rPr sz="1500" b="1" i="0">
                <a:solidFill>
                  <a:srgbClr val="1F3A5F"/>
                </a:solidFill>
                <a:latin typeface="Calibri"/>
              </a:rPr>
              <a:t>interval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Dataset</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4</a:t>
            </a:r>
          </a:p>
        </p:txBody>
      </p:sp>
      <p:sp>
        <p:nvSpPr>
          <p:cNvPr id="6" name="Rectangle 5"/>
          <p:cNvSpPr/>
          <p:nvPr/>
        </p:nvSpPr>
        <p:spPr>
          <a:xfrm>
            <a:off x="4727448" y="1325880"/>
            <a:ext cx="2743200" cy="59436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800" b="1" i="0">
                <a:solidFill>
                  <a:srgbClr val="FFFFFF"/>
                </a:solidFill>
                <a:latin typeface="Calibri"/>
              </a:rPr>
              <a:t>Meghalaya, India</a:t>
            </a:r>
          </a:p>
        </p:txBody>
      </p:sp>
      <p:sp>
        <p:nvSpPr>
          <p:cNvPr id="7" name="Rectangle 6"/>
          <p:cNvSpPr/>
          <p:nvPr/>
        </p:nvSpPr>
        <p:spPr>
          <a:xfrm>
            <a:off x="1188720" y="2331720"/>
            <a:ext cx="4389120" cy="12344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a:solidFill>
                  <a:srgbClr val="1F3A5F"/>
                </a:solidFill>
                <a:latin typeface="Calibri"/>
              </a:rPr>
              <a:t>CPCB</a:t>
            </a:r>
          </a:p>
          <a:p>
            <a:pPr algn="l">
              <a:spcBef>
                <a:spcPts val="400"/>
              </a:spcBef>
            </a:pPr>
            <a:r>
              <a:rPr sz="1600" b="0" i="0">
                <a:solidFill>
                  <a:srgbClr val="262626"/>
                </a:solidFill>
                <a:latin typeface="Calibri"/>
              </a:rPr>
              <a:t>Central Pollution Control Board sensor network</a:t>
            </a:r>
          </a:p>
        </p:txBody>
      </p:sp>
      <p:sp>
        <p:nvSpPr>
          <p:cNvPr id="8" name="Rectangle 7"/>
          <p:cNvSpPr/>
          <p:nvPr/>
        </p:nvSpPr>
        <p:spPr>
          <a:xfrm>
            <a:off x="6611112" y="2331720"/>
            <a:ext cx="4389120" cy="12344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a:solidFill>
                  <a:srgbClr val="1F3A5F"/>
                </a:solidFill>
                <a:latin typeface="Calibri"/>
              </a:rPr>
              <a:t>ID1</a:t>
            </a:r>
          </a:p>
          <a:p>
            <a:pPr algn="l">
              <a:spcBef>
                <a:spcPts val="400"/>
              </a:spcBef>
            </a:pPr>
            <a:r>
              <a:rPr sz="1600" b="0" i="0">
                <a:solidFill>
                  <a:srgbClr val="262626"/>
                </a:solidFill>
                <a:latin typeface="Calibri"/>
              </a:rPr>
              <a:t>Low-cost air-quality sensor system</a:t>
            </a:r>
          </a:p>
        </p:txBody>
      </p:sp>
      <p:cxnSp>
        <p:nvCxnSpPr>
          <p:cNvPr id="9" name="Connector 8"/>
          <p:cNvCxnSpPr/>
          <p:nvPr/>
        </p:nvCxnSpPr>
        <p:spPr>
          <a:xfrm flipH="1">
            <a:off x="3383280" y="1920240"/>
            <a:ext cx="2103120" cy="41148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702552" y="1920240"/>
            <a:ext cx="2103120" cy="41148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48640" y="3886200"/>
            <a:ext cx="3474720" cy="105156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500" b="1" i="0">
                <a:solidFill>
                  <a:srgbClr val="1F3A5F"/>
                </a:solidFill>
                <a:latin typeface="Calibri"/>
              </a:rPr>
              <a:t>Data period</a:t>
            </a:r>
          </a:p>
          <a:p>
            <a:pPr algn="l">
              <a:spcBef>
                <a:spcPts val="400"/>
              </a:spcBef>
            </a:pPr>
            <a:r>
              <a:rPr sz="1800" b="0" i="0">
                <a:solidFill>
                  <a:srgbClr val="262626"/>
                </a:solidFill>
                <a:latin typeface="Calibri"/>
              </a:rPr>
              <a:t>July 2022 → July 2023</a:t>
            </a:r>
          </a:p>
        </p:txBody>
      </p:sp>
      <p:sp>
        <p:nvSpPr>
          <p:cNvPr id="12" name="Rectangle 11"/>
          <p:cNvSpPr/>
          <p:nvPr/>
        </p:nvSpPr>
        <p:spPr>
          <a:xfrm>
            <a:off x="4297679" y="3886200"/>
            <a:ext cx="3474720" cy="105156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500" b="1" i="0">
                <a:solidFill>
                  <a:srgbClr val="1F3A5F"/>
                </a:solidFill>
                <a:latin typeface="Calibri"/>
              </a:rPr>
              <a:t>Sampling</a:t>
            </a:r>
          </a:p>
          <a:p>
            <a:pPr algn="l">
              <a:spcBef>
                <a:spcPts val="400"/>
              </a:spcBef>
            </a:pPr>
            <a:r>
              <a:rPr sz="1800" b="0" i="0">
                <a:solidFill>
                  <a:srgbClr val="262626"/>
                </a:solidFill>
                <a:latin typeface="Calibri"/>
              </a:rPr>
              <a:t>15-minute observations</a:t>
            </a:r>
          </a:p>
        </p:txBody>
      </p:sp>
      <p:sp>
        <p:nvSpPr>
          <p:cNvPr id="13" name="Rectangle 12"/>
          <p:cNvSpPr/>
          <p:nvPr/>
        </p:nvSpPr>
        <p:spPr>
          <a:xfrm>
            <a:off x="8046719" y="3886200"/>
            <a:ext cx="3474720" cy="105156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500" b="1" i="0">
                <a:solidFill>
                  <a:srgbClr val="1F3A5F"/>
                </a:solidFill>
                <a:latin typeface="Calibri"/>
              </a:rPr>
              <a:t>Forecast horizons</a:t>
            </a:r>
          </a:p>
          <a:p>
            <a:pPr algn="l">
              <a:spcBef>
                <a:spcPts val="400"/>
              </a:spcBef>
            </a:pPr>
            <a:r>
              <a:rPr sz="1800" b="0" i="0">
                <a:solidFill>
                  <a:srgbClr val="262626"/>
                </a:solidFill>
                <a:latin typeface="Calibri"/>
              </a:rPr>
              <a:t>1, 7, 14, 31 days</a:t>
            </a:r>
          </a:p>
        </p:txBody>
      </p:sp>
      <p:sp>
        <p:nvSpPr>
          <p:cNvPr id="14" name="TextBox 13"/>
          <p:cNvSpPr txBox="1"/>
          <p:nvPr/>
        </p:nvSpPr>
        <p:spPr>
          <a:xfrm>
            <a:off x="548640" y="5212080"/>
            <a:ext cx="11064240" cy="365760"/>
          </a:xfrm>
          <a:prstGeom prst="rect">
            <a:avLst/>
          </a:prstGeom>
          <a:noFill/>
        </p:spPr>
        <p:txBody>
          <a:bodyPr wrap="square">
            <a:spAutoFit/>
          </a:bodyPr>
          <a:lstStyle/>
          <a:p>
            <a:pPr algn="ctr">
              <a:spcAft>
                <a:spcPts val="600"/>
              </a:spcAft>
            </a:pPr>
            <a:r>
              <a:rPr sz="1600" b="1" i="0">
                <a:solidFill>
                  <a:srgbClr val="1F3A5F"/>
                </a:solidFill>
                <a:latin typeface="Calibri"/>
              </a:rPr>
              <a:t>Pollutants</a:t>
            </a:r>
          </a:p>
        </p:txBody>
      </p:sp>
      <p:pic>
        <p:nvPicPr>
          <p:cNvPr id="15" name="Picture 14" descr="eq_02.png"/>
          <p:cNvPicPr>
            <a:picLocks noChangeAspect="1"/>
          </p:cNvPicPr>
          <p:nvPr/>
        </p:nvPicPr>
        <p:blipFill>
          <a:blip r:embed="rId3"/>
          <a:stretch>
            <a:fillRect/>
          </a:stretch>
        </p:blipFill>
        <p:spPr>
          <a:xfrm>
            <a:off x="2740152" y="5577840"/>
            <a:ext cx="6681216" cy="3657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Data Preprocessing</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5</a:t>
            </a:r>
          </a:p>
        </p:txBody>
      </p:sp>
      <p:sp>
        <p:nvSpPr>
          <p:cNvPr id="6" name="Rectangle 5"/>
          <p:cNvSpPr/>
          <p:nvPr/>
        </p:nvSpPr>
        <p:spPr>
          <a:xfrm>
            <a:off x="548640" y="1371600"/>
            <a:ext cx="2377440" cy="86868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1F3A5F"/>
                </a:solidFill>
                <a:latin typeface="Calibri"/>
              </a:rPr>
              <a:t>15-min data</a:t>
            </a:r>
          </a:p>
        </p:txBody>
      </p:sp>
      <p:cxnSp>
        <p:nvCxnSpPr>
          <p:cNvPr id="7" name="Connector 6"/>
          <p:cNvCxnSpPr/>
          <p:nvPr/>
        </p:nvCxnSpPr>
        <p:spPr>
          <a:xfrm>
            <a:off x="2926080" y="1805940"/>
            <a:ext cx="518464"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444544" y="1371600"/>
            <a:ext cx="2377440" cy="86868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1F3A5F"/>
                </a:solidFill>
                <a:latin typeface="Calibri"/>
              </a:rPr>
              <a:t>Missing-value</a:t>
            </a:r>
          </a:p>
          <a:p>
            <a:pPr algn="ctr"/>
            <a:r>
              <a:rPr sz="1600" b="1" i="0">
                <a:solidFill>
                  <a:srgbClr val="1F3A5F"/>
                </a:solidFill>
                <a:latin typeface="Calibri"/>
              </a:rPr>
              <a:t>handling</a:t>
            </a:r>
          </a:p>
        </p:txBody>
      </p:sp>
      <p:cxnSp>
        <p:nvCxnSpPr>
          <p:cNvPr id="9" name="Connector 8"/>
          <p:cNvCxnSpPr/>
          <p:nvPr/>
        </p:nvCxnSpPr>
        <p:spPr>
          <a:xfrm>
            <a:off x="5821984" y="1805940"/>
            <a:ext cx="518465"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340449" y="1371600"/>
            <a:ext cx="2377440" cy="86868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FFFFFF"/>
                </a:solidFill>
                <a:latin typeface="Calibri"/>
              </a:rPr>
              <a:t>Hourly</a:t>
            </a:r>
          </a:p>
          <a:p>
            <a:pPr algn="ctr"/>
            <a:r>
              <a:rPr sz="1600" b="1" i="0">
                <a:solidFill>
                  <a:srgbClr val="FFFFFF"/>
                </a:solidFill>
                <a:latin typeface="Calibri"/>
              </a:rPr>
              <a:t>averaging</a:t>
            </a:r>
          </a:p>
        </p:txBody>
      </p:sp>
      <p:cxnSp>
        <p:nvCxnSpPr>
          <p:cNvPr id="11" name="Connector 10"/>
          <p:cNvCxnSpPr/>
          <p:nvPr/>
        </p:nvCxnSpPr>
        <p:spPr>
          <a:xfrm>
            <a:off x="8717889" y="1805940"/>
            <a:ext cx="518465"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9236354" y="1371600"/>
            <a:ext cx="2377440" cy="86868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FFFFFF"/>
                </a:solidFill>
                <a:latin typeface="Calibri"/>
              </a:rPr>
              <a:t>Min-max</a:t>
            </a:r>
          </a:p>
          <a:p>
            <a:pPr algn="ctr"/>
            <a:r>
              <a:rPr sz="1600" b="1" i="0">
                <a:solidFill>
                  <a:srgbClr val="FFFFFF"/>
                </a:solidFill>
                <a:latin typeface="Calibri"/>
              </a:rPr>
              <a:t>normalisation</a:t>
            </a:r>
          </a:p>
        </p:txBody>
      </p:sp>
      <p:sp>
        <p:nvSpPr>
          <p:cNvPr id="13" name="TextBox 12"/>
          <p:cNvSpPr txBox="1"/>
          <p:nvPr/>
        </p:nvSpPr>
        <p:spPr>
          <a:xfrm>
            <a:off x="548640" y="2606040"/>
            <a:ext cx="5303520" cy="457200"/>
          </a:xfrm>
          <a:prstGeom prst="rect">
            <a:avLst/>
          </a:prstGeom>
          <a:noFill/>
        </p:spPr>
        <p:txBody>
          <a:bodyPr wrap="square">
            <a:spAutoFit/>
          </a:bodyPr>
          <a:lstStyle/>
          <a:p>
            <a:pPr algn="l">
              <a:spcAft>
                <a:spcPts val="600"/>
              </a:spcAft>
            </a:pPr>
            <a:r>
              <a:rPr sz="1900" b="1" i="0">
                <a:solidFill>
                  <a:srgbClr val="1F3A5F"/>
                </a:solidFill>
                <a:latin typeface="Calibri"/>
              </a:rPr>
              <a:t>Hourly averaging</a:t>
            </a:r>
          </a:p>
        </p:txBody>
      </p:sp>
      <p:pic>
        <p:nvPicPr>
          <p:cNvPr id="14" name="Picture 13" descr="eq_03.png"/>
          <p:cNvPicPr>
            <a:picLocks noChangeAspect="1"/>
          </p:cNvPicPr>
          <p:nvPr/>
        </p:nvPicPr>
        <p:blipFill>
          <a:blip r:embed="rId3"/>
          <a:stretch>
            <a:fillRect/>
          </a:stretch>
        </p:blipFill>
        <p:spPr>
          <a:xfrm>
            <a:off x="731520" y="3154680"/>
            <a:ext cx="3008376" cy="536448"/>
          </a:xfrm>
          <a:prstGeom prst="rect">
            <a:avLst/>
          </a:prstGeom>
        </p:spPr>
      </p:pic>
      <p:sp>
        <p:nvSpPr>
          <p:cNvPr id="15" name="TextBox 14"/>
          <p:cNvSpPr txBox="1"/>
          <p:nvPr/>
        </p:nvSpPr>
        <p:spPr>
          <a:xfrm>
            <a:off x="548640" y="4343400"/>
            <a:ext cx="5303520" cy="457200"/>
          </a:xfrm>
          <a:prstGeom prst="rect">
            <a:avLst/>
          </a:prstGeom>
          <a:noFill/>
        </p:spPr>
        <p:txBody>
          <a:bodyPr wrap="square">
            <a:spAutoFit/>
          </a:bodyPr>
          <a:lstStyle/>
          <a:p>
            <a:pPr algn="l">
              <a:spcAft>
                <a:spcPts val="600"/>
              </a:spcAft>
            </a:pPr>
            <a:r>
              <a:rPr sz="1600" b="1" i="0">
                <a:solidFill>
                  <a:srgbClr val="262626"/>
                </a:solidFill>
                <a:latin typeface="Calibri"/>
              </a:rPr>
              <a:t>Example</a:t>
            </a:r>
          </a:p>
        </p:txBody>
      </p:sp>
      <p:pic>
        <p:nvPicPr>
          <p:cNvPr id="16" name="Picture 15" descr="eq_04.png"/>
          <p:cNvPicPr>
            <a:picLocks noChangeAspect="1"/>
          </p:cNvPicPr>
          <p:nvPr/>
        </p:nvPicPr>
        <p:blipFill>
          <a:blip r:embed="rId4"/>
          <a:stretch>
            <a:fillRect/>
          </a:stretch>
        </p:blipFill>
        <p:spPr>
          <a:xfrm>
            <a:off x="731520" y="4754880"/>
            <a:ext cx="2484120" cy="502920"/>
          </a:xfrm>
          <a:prstGeom prst="rect">
            <a:avLst/>
          </a:prstGeom>
        </p:spPr>
      </p:pic>
      <p:sp>
        <p:nvSpPr>
          <p:cNvPr id="17" name="TextBox 16"/>
          <p:cNvSpPr txBox="1"/>
          <p:nvPr/>
        </p:nvSpPr>
        <p:spPr>
          <a:xfrm>
            <a:off x="6400800" y="2606040"/>
            <a:ext cx="5212080" cy="457200"/>
          </a:xfrm>
          <a:prstGeom prst="rect">
            <a:avLst/>
          </a:prstGeom>
          <a:noFill/>
        </p:spPr>
        <p:txBody>
          <a:bodyPr wrap="square">
            <a:spAutoFit/>
          </a:bodyPr>
          <a:lstStyle/>
          <a:p>
            <a:pPr algn="l">
              <a:spcAft>
                <a:spcPts val="600"/>
              </a:spcAft>
            </a:pPr>
            <a:r>
              <a:rPr sz="1900" b="1" i="0">
                <a:solidFill>
                  <a:srgbClr val="1F3A5F"/>
                </a:solidFill>
                <a:latin typeface="Calibri"/>
              </a:rPr>
              <a:t>Min-max normalisation</a:t>
            </a:r>
          </a:p>
        </p:txBody>
      </p:sp>
      <p:pic>
        <p:nvPicPr>
          <p:cNvPr id="18" name="Picture 17" descr="eq_05.png"/>
          <p:cNvPicPr>
            <a:picLocks noChangeAspect="1"/>
          </p:cNvPicPr>
          <p:nvPr/>
        </p:nvPicPr>
        <p:blipFill>
          <a:blip r:embed="rId5"/>
          <a:stretch>
            <a:fillRect/>
          </a:stretch>
        </p:blipFill>
        <p:spPr>
          <a:xfrm>
            <a:off x="6583680" y="3154680"/>
            <a:ext cx="1987296" cy="484632"/>
          </a:xfrm>
          <a:prstGeom prst="rect">
            <a:avLst/>
          </a:prstGeom>
        </p:spPr>
      </p:pic>
      <p:pic>
        <p:nvPicPr>
          <p:cNvPr id="19" name="Picture 18" descr="eq_06.png"/>
          <p:cNvPicPr>
            <a:picLocks noChangeAspect="1"/>
          </p:cNvPicPr>
          <p:nvPr/>
        </p:nvPicPr>
        <p:blipFill>
          <a:blip r:embed="rId6"/>
          <a:stretch>
            <a:fillRect/>
          </a:stretch>
        </p:blipFill>
        <p:spPr>
          <a:xfrm>
            <a:off x="6583680" y="4434840"/>
            <a:ext cx="2048256" cy="405384"/>
          </a:xfrm>
          <a:prstGeom prst="rect">
            <a:avLst/>
          </a:prstGeom>
        </p:spPr>
      </p:pic>
      <p:sp>
        <p:nvSpPr>
          <p:cNvPr id="20" name="TextBox 19"/>
          <p:cNvSpPr txBox="1"/>
          <p:nvPr/>
        </p:nvSpPr>
        <p:spPr>
          <a:xfrm>
            <a:off x="6400800" y="5074920"/>
            <a:ext cx="5212080" cy="1097280"/>
          </a:xfrm>
          <a:prstGeom prst="rect">
            <a:avLst/>
          </a:prstGeom>
          <a:noFill/>
        </p:spPr>
        <p:txBody>
          <a:bodyPr wrap="square">
            <a:spAutoFit/>
          </a:bodyPr>
          <a:lstStyle/>
          <a:p>
            <a:pPr algn="l">
              <a:spcAft>
                <a:spcPts val="400"/>
              </a:spcAft>
            </a:pPr>
            <a:r>
              <a:rPr sz="1600" b="0" i="0">
                <a:solidFill>
                  <a:srgbClr val="262626"/>
                </a:solidFill>
                <a:latin typeface="Calibri"/>
              </a:rPr>
              <a:t>•  Puts all pollutants on the same scale</a:t>
            </a:r>
          </a:p>
          <a:p>
            <a:pPr algn="l">
              <a:spcAft>
                <a:spcPts val="400"/>
              </a:spcAft>
            </a:pPr>
            <a:r>
              <a:rPr sz="1600" b="0" i="0">
                <a:solidFill>
                  <a:srgbClr val="262626"/>
                </a:solidFill>
                <a:latin typeface="Calibri"/>
              </a:rPr>
              <a:t>•  Helps the model converge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765D76-13A1-05D4-35FE-A78E971070C0}"/>
              </a:ext>
            </a:extLst>
          </p:cNvPr>
          <p:cNvPicPr>
            <a:picLocks noChangeAspect="1"/>
          </p:cNvPicPr>
          <p:nvPr/>
        </p:nvPicPr>
        <p:blipFill>
          <a:blip r:embed="rId2"/>
          <a:stretch>
            <a:fillRect/>
          </a:stretch>
        </p:blipFill>
        <p:spPr>
          <a:xfrm>
            <a:off x="0" y="428"/>
            <a:ext cx="12192000" cy="6857143"/>
          </a:xfrm>
          <a:prstGeom prst="rect">
            <a:avLst/>
          </a:prstGeom>
        </p:spPr>
      </p:pic>
    </p:spTree>
    <p:extLst>
      <p:ext uri="{BB962C8B-B14F-4D97-AF65-F5344CB8AC3E}">
        <p14:creationId xmlns:p14="http://schemas.microsoft.com/office/powerpoint/2010/main" val="586729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4B5E20-A30F-2E96-AD7E-C2FCE16531FD}"/>
              </a:ext>
            </a:extLst>
          </p:cNvPr>
          <p:cNvPicPr>
            <a:picLocks noChangeAspect="1"/>
          </p:cNvPicPr>
          <p:nvPr/>
        </p:nvPicPr>
        <p:blipFill>
          <a:blip r:embed="rId2"/>
          <a:stretch>
            <a:fillRect/>
          </a:stretch>
        </p:blipFill>
        <p:spPr>
          <a:xfrm>
            <a:off x="0" y="428"/>
            <a:ext cx="12192000" cy="6857143"/>
          </a:xfrm>
          <a:prstGeom prst="rect">
            <a:avLst/>
          </a:prstGeom>
        </p:spPr>
      </p:pic>
    </p:spTree>
    <p:extLst>
      <p:ext uri="{BB962C8B-B14F-4D97-AF65-F5344CB8AC3E}">
        <p14:creationId xmlns:p14="http://schemas.microsoft.com/office/powerpoint/2010/main" val="2631707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1DFD4F-0D33-6F1A-62C2-6CF184A8F254}"/>
              </a:ext>
            </a:extLst>
          </p:cNvPr>
          <p:cNvPicPr>
            <a:picLocks noChangeAspect="1"/>
          </p:cNvPicPr>
          <p:nvPr/>
        </p:nvPicPr>
        <p:blipFill>
          <a:blip r:embed="rId2"/>
          <a:stretch>
            <a:fillRect/>
          </a:stretch>
        </p:blipFill>
        <p:spPr>
          <a:xfrm>
            <a:off x="0" y="428"/>
            <a:ext cx="12192000" cy="6857143"/>
          </a:xfrm>
          <a:prstGeom prst="rect">
            <a:avLst/>
          </a:prstGeom>
        </p:spPr>
      </p:pic>
    </p:spTree>
    <p:extLst>
      <p:ext uri="{BB962C8B-B14F-4D97-AF65-F5344CB8AC3E}">
        <p14:creationId xmlns:p14="http://schemas.microsoft.com/office/powerpoint/2010/main" val="3629308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Why Forecast Components Separately?</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9</a:t>
            </a:r>
          </a:p>
        </p:txBody>
      </p:sp>
      <p:sp>
        <p:nvSpPr>
          <p:cNvPr id="6" name="TextBox 5"/>
          <p:cNvSpPr txBox="1"/>
          <p:nvPr/>
        </p:nvSpPr>
        <p:spPr>
          <a:xfrm>
            <a:off x="548640" y="1280160"/>
            <a:ext cx="4023360" cy="457200"/>
          </a:xfrm>
          <a:prstGeom prst="rect">
            <a:avLst/>
          </a:prstGeom>
          <a:noFill/>
        </p:spPr>
        <p:txBody>
          <a:bodyPr wrap="square">
            <a:spAutoFit/>
          </a:bodyPr>
          <a:lstStyle/>
          <a:p>
            <a:pPr algn="ctr">
              <a:spcAft>
                <a:spcPts val="600"/>
              </a:spcAft>
            </a:pPr>
            <a:r>
              <a:rPr sz="1900" b="1" i="0">
                <a:solidFill>
                  <a:srgbClr val="1F3A5F"/>
                </a:solidFill>
                <a:latin typeface="Calibri"/>
              </a:rPr>
              <a:t>Direct approach</a:t>
            </a:r>
          </a:p>
        </p:txBody>
      </p:sp>
      <p:sp>
        <p:nvSpPr>
          <p:cNvPr id="7" name="Rectangle 6"/>
          <p:cNvSpPr/>
          <p:nvPr/>
        </p:nvSpPr>
        <p:spPr>
          <a:xfrm>
            <a:off x="1188720" y="1828800"/>
            <a:ext cx="274320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1F3A5F"/>
                </a:solidFill>
                <a:latin typeface="Calibri"/>
              </a:rPr>
              <a:t>Messy signal</a:t>
            </a:r>
          </a:p>
        </p:txBody>
      </p:sp>
      <p:cxnSp>
        <p:nvCxnSpPr>
          <p:cNvPr id="8" name="Connector 7"/>
          <p:cNvCxnSpPr/>
          <p:nvPr/>
        </p:nvCxnSpPr>
        <p:spPr>
          <a:xfrm>
            <a:off x="2560320" y="2377440"/>
            <a:ext cx="0" cy="41148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188720" y="2788920"/>
            <a:ext cx="2743200" cy="54864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FFFFFF"/>
                </a:solidFill>
                <a:latin typeface="Calibri"/>
              </a:rPr>
              <a:t>One model</a:t>
            </a:r>
          </a:p>
        </p:txBody>
      </p:sp>
      <p:cxnSp>
        <p:nvCxnSpPr>
          <p:cNvPr id="10" name="Connector 9"/>
          <p:cNvCxnSpPr/>
          <p:nvPr/>
        </p:nvCxnSpPr>
        <p:spPr>
          <a:xfrm>
            <a:off x="2560320" y="3337560"/>
            <a:ext cx="0" cy="411479"/>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188720" y="3749039"/>
            <a:ext cx="274320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1F3A5F"/>
                </a:solidFill>
                <a:latin typeface="Calibri"/>
              </a:rPr>
              <a:t>Forecast</a:t>
            </a:r>
          </a:p>
        </p:txBody>
      </p:sp>
      <p:sp>
        <p:nvSpPr>
          <p:cNvPr id="12" name="TextBox 11"/>
          <p:cNvSpPr txBox="1"/>
          <p:nvPr/>
        </p:nvSpPr>
        <p:spPr>
          <a:xfrm>
            <a:off x="548640" y="4754880"/>
            <a:ext cx="4023360" cy="1463040"/>
          </a:xfrm>
          <a:prstGeom prst="rect">
            <a:avLst/>
          </a:prstGeom>
          <a:noFill/>
        </p:spPr>
        <p:txBody>
          <a:bodyPr wrap="square">
            <a:spAutoFit/>
          </a:bodyPr>
          <a:lstStyle/>
          <a:p>
            <a:pPr algn="ctr">
              <a:spcAft>
                <a:spcPts val="600"/>
              </a:spcAft>
            </a:pPr>
            <a:r>
              <a:rPr sz="1600" b="0" i="0">
                <a:solidFill>
                  <a:srgbClr val="262626"/>
                </a:solidFill>
                <a:latin typeface="Calibri"/>
              </a:rPr>
              <a:t>One model must learn noise + short-term variation + trend + seasonality at the same time</a:t>
            </a:r>
          </a:p>
        </p:txBody>
      </p:sp>
      <p:cxnSp>
        <p:nvCxnSpPr>
          <p:cNvPr id="13" name="Connector 12"/>
          <p:cNvCxnSpPr/>
          <p:nvPr/>
        </p:nvCxnSpPr>
        <p:spPr>
          <a:xfrm>
            <a:off x="4892040" y="1371600"/>
            <a:ext cx="0" cy="4754880"/>
          </a:xfrm>
          <a:prstGeom prst="line">
            <a:avLst/>
          </a:prstGeom>
          <a:ln>
            <a:solidFill>
              <a:srgbClr val="C8CFD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212080" y="1280160"/>
            <a:ext cx="6400800" cy="384721"/>
          </a:xfrm>
          <a:prstGeom prst="rect">
            <a:avLst/>
          </a:prstGeom>
          <a:noFill/>
        </p:spPr>
        <p:txBody>
          <a:bodyPr wrap="square">
            <a:spAutoFit/>
          </a:bodyPr>
          <a:lstStyle/>
          <a:p>
            <a:pPr algn="ctr">
              <a:spcAft>
                <a:spcPts val="600"/>
              </a:spcAft>
            </a:pPr>
            <a:r>
              <a:rPr lang="en-US" sz="1900" b="1" i="0" dirty="0">
                <a:solidFill>
                  <a:srgbClr val="1F3A5F"/>
                </a:solidFill>
                <a:latin typeface="Calibri"/>
              </a:rPr>
              <a:t>MODWT approach</a:t>
            </a:r>
            <a:endParaRPr sz="1900" b="1" i="0" dirty="0">
              <a:solidFill>
                <a:srgbClr val="1F3A5F"/>
              </a:solidFill>
              <a:latin typeface="Calibri"/>
            </a:endParaRPr>
          </a:p>
        </p:txBody>
      </p:sp>
      <p:sp>
        <p:nvSpPr>
          <p:cNvPr id="15" name="Rectangle 14"/>
          <p:cNvSpPr/>
          <p:nvPr/>
        </p:nvSpPr>
        <p:spPr>
          <a:xfrm>
            <a:off x="7315199" y="1783080"/>
            <a:ext cx="2194560" cy="4572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Messy signal</a:t>
            </a:r>
          </a:p>
        </p:txBody>
      </p:sp>
      <p:sp>
        <p:nvSpPr>
          <p:cNvPr id="16" name="Rectangle 15"/>
          <p:cNvSpPr/>
          <p:nvPr/>
        </p:nvSpPr>
        <p:spPr>
          <a:xfrm>
            <a:off x="7315199" y="2514600"/>
            <a:ext cx="2194560" cy="45720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FFFFFF"/>
                </a:solidFill>
                <a:latin typeface="Calibri"/>
              </a:rPr>
              <a:t>MODWT</a:t>
            </a:r>
          </a:p>
        </p:txBody>
      </p:sp>
      <p:cxnSp>
        <p:nvCxnSpPr>
          <p:cNvPr id="17" name="Connector 16"/>
          <p:cNvCxnSpPr/>
          <p:nvPr/>
        </p:nvCxnSpPr>
        <p:spPr>
          <a:xfrm>
            <a:off x="8412480" y="2240280"/>
            <a:ext cx="0" cy="27432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577840" y="3291840"/>
            <a:ext cx="1188720" cy="4572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D1</a:t>
            </a:r>
          </a:p>
        </p:txBody>
      </p:sp>
      <p:sp>
        <p:nvSpPr>
          <p:cNvPr id="19" name="Rectangle 18"/>
          <p:cNvSpPr/>
          <p:nvPr/>
        </p:nvSpPr>
        <p:spPr>
          <a:xfrm>
            <a:off x="5577840" y="4023360"/>
            <a:ext cx="1188720" cy="45720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400" b="1" dirty="0">
                <a:solidFill>
                  <a:srgbClr val="FFFFFF"/>
                </a:solidFill>
                <a:latin typeface="Calibri"/>
              </a:rPr>
              <a:t>Model</a:t>
            </a:r>
            <a:endParaRPr sz="1400" b="1" i="0" dirty="0">
              <a:solidFill>
                <a:srgbClr val="FFFFFF"/>
              </a:solidFill>
              <a:latin typeface="Calibri"/>
            </a:endParaRPr>
          </a:p>
        </p:txBody>
      </p:sp>
      <p:cxnSp>
        <p:nvCxnSpPr>
          <p:cNvPr id="20" name="Connector 19"/>
          <p:cNvCxnSpPr/>
          <p:nvPr/>
        </p:nvCxnSpPr>
        <p:spPr>
          <a:xfrm flipH="1">
            <a:off x="6172200" y="2971800"/>
            <a:ext cx="2240280" cy="32004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172200" y="3749039"/>
            <a:ext cx="0" cy="274321"/>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172200" y="4480560"/>
            <a:ext cx="2240280" cy="32004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178040" y="3291840"/>
            <a:ext cx="1188720" cy="4572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D2</a:t>
            </a:r>
          </a:p>
        </p:txBody>
      </p:sp>
      <p:sp>
        <p:nvSpPr>
          <p:cNvPr id="24" name="Rectangle 23"/>
          <p:cNvSpPr/>
          <p:nvPr/>
        </p:nvSpPr>
        <p:spPr>
          <a:xfrm>
            <a:off x="7178040" y="4023360"/>
            <a:ext cx="1188720" cy="45720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400" b="1" i="0" dirty="0">
                <a:solidFill>
                  <a:srgbClr val="FFFFFF"/>
                </a:solidFill>
                <a:latin typeface="Calibri"/>
              </a:rPr>
              <a:t>Model</a:t>
            </a:r>
            <a:endParaRPr sz="1400" b="1" i="0" dirty="0">
              <a:solidFill>
                <a:srgbClr val="FFFFFF"/>
              </a:solidFill>
              <a:latin typeface="Calibri"/>
            </a:endParaRPr>
          </a:p>
        </p:txBody>
      </p:sp>
      <p:cxnSp>
        <p:nvCxnSpPr>
          <p:cNvPr id="25" name="Connector 24"/>
          <p:cNvCxnSpPr/>
          <p:nvPr/>
        </p:nvCxnSpPr>
        <p:spPr>
          <a:xfrm flipH="1">
            <a:off x="7772400" y="2971800"/>
            <a:ext cx="640080" cy="32004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772400" y="3749039"/>
            <a:ext cx="0" cy="274321"/>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772400" y="4480560"/>
            <a:ext cx="640080" cy="32004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8778240" y="3291840"/>
            <a:ext cx="1188720" cy="4572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a:t>
            </a:r>
          </a:p>
        </p:txBody>
      </p:sp>
      <p:sp>
        <p:nvSpPr>
          <p:cNvPr id="29" name="Rectangle 28"/>
          <p:cNvSpPr/>
          <p:nvPr/>
        </p:nvSpPr>
        <p:spPr>
          <a:xfrm>
            <a:off x="8778240" y="4023360"/>
            <a:ext cx="1188720" cy="4572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1F3A5F"/>
                </a:solidFill>
                <a:latin typeface="Calibri"/>
              </a:rPr>
              <a:t>…</a:t>
            </a:r>
          </a:p>
        </p:txBody>
      </p:sp>
      <p:cxnSp>
        <p:nvCxnSpPr>
          <p:cNvPr id="30" name="Connector 29"/>
          <p:cNvCxnSpPr/>
          <p:nvPr/>
        </p:nvCxnSpPr>
        <p:spPr>
          <a:xfrm>
            <a:off x="8412480" y="2971800"/>
            <a:ext cx="960120" cy="32004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372600" y="3749039"/>
            <a:ext cx="0" cy="274321"/>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8412480" y="4480560"/>
            <a:ext cx="960120" cy="32004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0378440" y="3291840"/>
            <a:ext cx="1188720" cy="4572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SK</a:t>
            </a:r>
          </a:p>
        </p:txBody>
      </p:sp>
      <p:sp>
        <p:nvSpPr>
          <p:cNvPr id="34" name="Rectangle 33"/>
          <p:cNvSpPr/>
          <p:nvPr/>
        </p:nvSpPr>
        <p:spPr>
          <a:xfrm>
            <a:off x="10378440" y="4023360"/>
            <a:ext cx="1188720" cy="45720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400" b="1" i="0" dirty="0">
                <a:solidFill>
                  <a:srgbClr val="FFFFFF"/>
                </a:solidFill>
                <a:latin typeface="Calibri"/>
              </a:rPr>
              <a:t>Model</a:t>
            </a:r>
            <a:endParaRPr sz="1400" b="1" i="0" dirty="0">
              <a:solidFill>
                <a:srgbClr val="FFFFFF"/>
              </a:solidFill>
              <a:latin typeface="Calibri"/>
            </a:endParaRPr>
          </a:p>
        </p:txBody>
      </p:sp>
      <p:cxnSp>
        <p:nvCxnSpPr>
          <p:cNvPr id="35" name="Connector 34"/>
          <p:cNvCxnSpPr/>
          <p:nvPr/>
        </p:nvCxnSpPr>
        <p:spPr>
          <a:xfrm>
            <a:off x="8412480" y="2971800"/>
            <a:ext cx="2560320" cy="32004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972800" y="3749039"/>
            <a:ext cx="0" cy="274321"/>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8412480" y="4480560"/>
            <a:ext cx="2560320" cy="32004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7315199" y="4800600"/>
            <a:ext cx="2194560" cy="4572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Reconstruct</a:t>
            </a:r>
          </a:p>
        </p:txBody>
      </p:sp>
      <p:sp>
        <p:nvSpPr>
          <p:cNvPr id="39" name="Rectangle 38"/>
          <p:cNvSpPr/>
          <p:nvPr/>
        </p:nvSpPr>
        <p:spPr>
          <a:xfrm>
            <a:off x="7315199" y="5532120"/>
            <a:ext cx="2194560" cy="4572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Forecast</a:t>
            </a:r>
          </a:p>
        </p:txBody>
      </p:sp>
      <p:cxnSp>
        <p:nvCxnSpPr>
          <p:cNvPr id="40" name="Connector 39"/>
          <p:cNvCxnSpPr/>
          <p:nvPr/>
        </p:nvCxnSpPr>
        <p:spPr>
          <a:xfrm>
            <a:off x="8412480" y="5257800"/>
            <a:ext cx="0" cy="27432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B2625-793E-500F-C713-5E0E07E1E9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BD20BD-892C-9BA2-B129-02999BF27E54}"/>
              </a:ext>
            </a:extLst>
          </p:cNvPr>
          <p:cNvSpPr txBox="1"/>
          <p:nvPr/>
        </p:nvSpPr>
        <p:spPr>
          <a:xfrm>
            <a:off x="548640" y="320040"/>
            <a:ext cx="5645520" cy="553998"/>
          </a:xfrm>
          <a:prstGeom prst="rect">
            <a:avLst/>
          </a:prstGeom>
          <a:noFill/>
        </p:spPr>
        <p:txBody>
          <a:bodyPr wrap="none">
            <a:spAutoFit/>
          </a:bodyPr>
          <a:lstStyle/>
          <a:p>
            <a:r>
              <a:rPr lang="en-US" sz="3000" b="1" i="0" dirty="0">
                <a:solidFill>
                  <a:srgbClr val="1F3A5F"/>
                </a:solidFill>
                <a:latin typeface="Calibri"/>
              </a:rPr>
              <a:t>How should we model the series ?</a:t>
            </a:r>
            <a:endParaRPr sz="3000" b="1" i="0" dirty="0">
              <a:solidFill>
                <a:srgbClr val="1F3A5F"/>
              </a:solidFill>
              <a:latin typeface="Calibri"/>
            </a:endParaRPr>
          </a:p>
        </p:txBody>
      </p:sp>
      <p:cxnSp>
        <p:nvCxnSpPr>
          <p:cNvPr id="3" name="Connector 2">
            <a:extLst>
              <a:ext uri="{FF2B5EF4-FFF2-40B4-BE49-F238E27FC236}">
                <a16:creationId xmlns:a16="http://schemas.microsoft.com/office/drawing/2014/main" id="{E4D1BB3E-7B84-717F-B75C-9B56B05F4E04}"/>
              </a:ext>
            </a:extLst>
          </p:cNvPr>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2D39B0D-8283-F7A5-E566-0EC4A4E401D6}"/>
              </a:ext>
            </a:extLst>
          </p:cNvPr>
          <p:cNvSpPr txBox="1"/>
          <p:nvPr/>
        </p:nvSpPr>
        <p:spPr>
          <a:xfrm>
            <a:off x="564700" y="6424872"/>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a:extLst>
              <a:ext uri="{FF2B5EF4-FFF2-40B4-BE49-F238E27FC236}">
                <a16:creationId xmlns:a16="http://schemas.microsoft.com/office/drawing/2014/main" id="{067B4DD2-7083-8D23-88AB-4DBA5FB05984}"/>
              </a:ext>
            </a:extLst>
          </p:cNvPr>
          <p:cNvSpPr txBox="1"/>
          <p:nvPr/>
        </p:nvSpPr>
        <p:spPr>
          <a:xfrm>
            <a:off x="10972800" y="6400800"/>
            <a:ext cx="667512" cy="261610"/>
          </a:xfrm>
          <a:prstGeom prst="rect">
            <a:avLst/>
          </a:prstGeom>
          <a:noFill/>
        </p:spPr>
        <p:txBody>
          <a:bodyPr wrap="square">
            <a:spAutoFit/>
          </a:bodyPr>
          <a:lstStyle/>
          <a:p>
            <a:pPr algn="r">
              <a:spcAft>
                <a:spcPts val="600"/>
              </a:spcAft>
            </a:pPr>
            <a:r>
              <a:rPr lang="en-US" sz="1100" b="0" i="0" dirty="0">
                <a:solidFill>
                  <a:srgbClr val="6B6B6B"/>
                </a:solidFill>
                <a:latin typeface="Calibri"/>
              </a:rPr>
              <a:t>10</a:t>
            </a:r>
            <a:endParaRPr sz="1100" b="0" i="0" dirty="0">
              <a:solidFill>
                <a:srgbClr val="6B6B6B"/>
              </a:solidFill>
              <a:latin typeface="Calibri"/>
            </a:endParaRPr>
          </a:p>
        </p:txBody>
      </p:sp>
      <p:sp>
        <p:nvSpPr>
          <p:cNvPr id="42" name="Rectangle 41">
            <a:extLst>
              <a:ext uri="{FF2B5EF4-FFF2-40B4-BE49-F238E27FC236}">
                <a16:creationId xmlns:a16="http://schemas.microsoft.com/office/drawing/2014/main" id="{3212022D-A5A2-573E-1D8F-CF55394CEA0A}"/>
              </a:ext>
            </a:extLst>
          </p:cNvPr>
          <p:cNvSpPr/>
          <p:nvPr/>
        </p:nvSpPr>
        <p:spPr>
          <a:xfrm>
            <a:off x="4509402" y="1578913"/>
            <a:ext cx="3453089" cy="4294535"/>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lang="en-US" sz="2400" b="1" dirty="0">
                <a:solidFill>
                  <a:srgbClr val="1F3A5F"/>
                </a:solidFill>
                <a:latin typeface="Calibri"/>
              </a:rPr>
              <a:t>Neural Networks : </a:t>
            </a:r>
            <a:endParaRPr sz="2400" b="1" i="0" dirty="0">
              <a:solidFill>
                <a:srgbClr val="1F3A5F"/>
              </a:solidFill>
              <a:latin typeface="Calibri"/>
            </a:endParaRPr>
          </a:p>
        </p:txBody>
      </p:sp>
      <p:sp>
        <p:nvSpPr>
          <p:cNvPr id="43" name="Rectangle 42">
            <a:extLst>
              <a:ext uri="{FF2B5EF4-FFF2-40B4-BE49-F238E27FC236}">
                <a16:creationId xmlns:a16="http://schemas.microsoft.com/office/drawing/2014/main" id="{0175C65D-2041-0C14-70E4-F180F2A634C2}"/>
              </a:ext>
            </a:extLst>
          </p:cNvPr>
          <p:cNvSpPr/>
          <p:nvPr/>
        </p:nvSpPr>
        <p:spPr>
          <a:xfrm>
            <a:off x="672207" y="1578913"/>
            <a:ext cx="3576646" cy="4294535"/>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lang="en-US" sz="2400" b="1" i="0" dirty="0">
                <a:solidFill>
                  <a:srgbClr val="1F3A5F"/>
                </a:solidFill>
                <a:latin typeface="Calibri"/>
              </a:rPr>
              <a:t>Autoregressive Process : </a:t>
            </a:r>
            <a:endParaRPr sz="2400" b="1" i="0" dirty="0">
              <a:solidFill>
                <a:srgbClr val="1F3A5F"/>
              </a:solidFill>
              <a:latin typeface="Calibri"/>
            </a:endParaRPr>
          </a:p>
        </p:txBody>
      </p:sp>
      <p:sp>
        <p:nvSpPr>
          <p:cNvPr id="44" name="Rectangle 43">
            <a:extLst>
              <a:ext uri="{FF2B5EF4-FFF2-40B4-BE49-F238E27FC236}">
                <a16:creationId xmlns:a16="http://schemas.microsoft.com/office/drawing/2014/main" id="{F7CC6C98-9DD2-2DB5-9F36-992516F9F5CC}"/>
              </a:ext>
            </a:extLst>
          </p:cNvPr>
          <p:cNvSpPr/>
          <p:nvPr/>
        </p:nvSpPr>
        <p:spPr>
          <a:xfrm>
            <a:off x="8197148" y="1578913"/>
            <a:ext cx="3453089" cy="4294535"/>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lang="en-US" sz="2400" b="1" i="0" dirty="0">
                <a:solidFill>
                  <a:srgbClr val="1F3A5F"/>
                </a:solidFill>
                <a:latin typeface="Calibri"/>
              </a:rPr>
              <a:t>Tree Based Models :</a:t>
            </a:r>
            <a:endParaRPr sz="2400" b="1" i="0" dirty="0">
              <a:solidFill>
                <a:srgbClr val="1F3A5F"/>
              </a:solidFill>
              <a:latin typeface="Calibri"/>
            </a:endParaRPr>
          </a:p>
        </p:txBody>
      </p:sp>
      <p:sp>
        <p:nvSpPr>
          <p:cNvPr id="45" name="TextBox 44">
            <a:extLst>
              <a:ext uri="{FF2B5EF4-FFF2-40B4-BE49-F238E27FC236}">
                <a16:creationId xmlns:a16="http://schemas.microsoft.com/office/drawing/2014/main" id="{1B30F1AB-E97D-DC8A-58EF-AB6871E7EC64}"/>
              </a:ext>
            </a:extLst>
          </p:cNvPr>
          <p:cNvSpPr txBox="1"/>
          <p:nvPr/>
        </p:nvSpPr>
        <p:spPr>
          <a:xfrm>
            <a:off x="672207" y="3121223"/>
            <a:ext cx="4084647" cy="615553"/>
          </a:xfrm>
          <a:prstGeom prst="rect">
            <a:avLst/>
          </a:prstGeom>
          <a:noFill/>
        </p:spPr>
        <p:txBody>
          <a:bodyPr wrap="square" rtlCol="0">
            <a:spAutoFit/>
          </a:bodyPr>
          <a:lstStyle/>
          <a:p>
            <a:pPr marL="285750" indent="-285750">
              <a:buFont typeface="Arial" panose="020B0604020202020204" pitchFamily="34" charset="0"/>
              <a:buChar char="•"/>
            </a:pPr>
            <a:r>
              <a:rPr lang="en-US" sz="1700" dirty="0"/>
              <a:t> Assumes </a:t>
            </a:r>
            <a:r>
              <a:rPr lang="en-US" sz="1700" b="1" dirty="0"/>
              <a:t>Linear Dependence </a:t>
            </a:r>
            <a:endParaRPr lang="en-IN" sz="1700" b="1" dirty="0"/>
          </a:p>
          <a:p>
            <a:r>
              <a:rPr lang="en-IN" sz="1700" dirty="0"/>
              <a:t>       on previous lags </a:t>
            </a:r>
            <a:endParaRPr lang="en-US" sz="1700" dirty="0"/>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EAACBF4-7F2F-9892-3ACD-805EB75C0D3D}"/>
                  </a:ext>
                </a:extLst>
              </p:cNvPr>
              <p:cNvSpPr txBox="1"/>
              <p:nvPr/>
            </p:nvSpPr>
            <p:spPr>
              <a:xfrm>
                <a:off x="672206" y="2322387"/>
                <a:ext cx="4084647" cy="455446"/>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borderBox>
                      <m:borderBoxPr>
                        <m:ctrlPr>
                          <a:rPr lang="en-IN" i="1" dirty="0">
                            <a:latin typeface="Cambria Math" panose="02040503050406030204" pitchFamily="18" charset="0"/>
                          </a:rPr>
                        </m:ctrlPr>
                      </m:borderBoxPr>
                      <m:e>
                        <m:sSub>
                          <m:sSubPr>
                            <m:ctrlPr>
                              <a:rPr lang="en-IN" i="1" dirty="0">
                                <a:latin typeface="Cambria Math" panose="02040503050406030204" pitchFamily="18" charset="0"/>
                              </a:rPr>
                            </m:ctrlPr>
                          </m:sSubPr>
                          <m:e>
                            <m:r>
                              <a:rPr lang="en-IN" i="1" dirty="0">
                                <a:latin typeface="Cambria Math" panose="02040503050406030204" pitchFamily="18" charset="0"/>
                              </a:rPr>
                              <m:t>𝑌</m:t>
                            </m:r>
                          </m:e>
                          <m:sub>
                            <m:r>
                              <a:rPr lang="en-IN" i="1" dirty="0">
                                <a:latin typeface="Cambria Math" panose="02040503050406030204" pitchFamily="18" charset="0"/>
                              </a:rPr>
                              <m:t>𝑡</m:t>
                            </m:r>
                          </m:sub>
                        </m:sSub>
                        <m:r>
                          <a:rPr lang="en-IN" i="0" dirty="0">
                            <a:latin typeface="Cambria Math" panose="02040503050406030204" pitchFamily="18" charset="0"/>
                          </a:rPr>
                          <m:t>=</m:t>
                        </m:r>
                        <m:r>
                          <a:rPr lang="en-IN" i="1" dirty="0">
                            <a:latin typeface="Cambria Math" panose="02040503050406030204" pitchFamily="18" charset="0"/>
                          </a:rPr>
                          <m:t>𝑐</m:t>
                        </m:r>
                        <m:r>
                          <a:rPr lang="en-IN" i="0" dirty="0">
                            <a:latin typeface="Cambria Math" panose="02040503050406030204" pitchFamily="18" charset="0"/>
                          </a:rPr>
                          <m:t>+</m:t>
                        </m:r>
                        <m:sSub>
                          <m:sSubPr>
                            <m:ctrlPr>
                              <a:rPr lang="en-IN" i="1" dirty="0">
                                <a:latin typeface="Cambria Math" panose="02040503050406030204" pitchFamily="18" charset="0"/>
                              </a:rPr>
                            </m:ctrlPr>
                          </m:sSubPr>
                          <m:e>
                            <m:r>
                              <a:rPr lang="en-IN" i="1" dirty="0">
                                <a:latin typeface="Cambria Math" panose="02040503050406030204" pitchFamily="18" charset="0"/>
                              </a:rPr>
                              <m:t>𝜙</m:t>
                            </m:r>
                          </m:e>
                          <m:sub>
                            <m:r>
                              <a:rPr lang="en-IN" i="0" dirty="0">
                                <a:latin typeface="Cambria Math" panose="02040503050406030204" pitchFamily="18" charset="0"/>
                              </a:rPr>
                              <m:t>1</m:t>
                            </m:r>
                          </m:sub>
                        </m:sSub>
                        <m:sSub>
                          <m:sSubPr>
                            <m:ctrlPr>
                              <a:rPr lang="en-IN" i="1" dirty="0">
                                <a:latin typeface="Cambria Math" panose="02040503050406030204" pitchFamily="18" charset="0"/>
                              </a:rPr>
                            </m:ctrlPr>
                          </m:sSubPr>
                          <m:e>
                            <m:r>
                              <a:rPr lang="en-IN" i="1" dirty="0">
                                <a:latin typeface="Cambria Math" panose="02040503050406030204" pitchFamily="18" charset="0"/>
                              </a:rPr>
                              <m:t>𝑌</m:t>
                            </m:r>
                          </m:e>
                          <m:sub>
                            <m:r>
                              <a:rPr lang="en-IN" i="1" dirty="0">
                                <a:latin typeface="Cambria Math" panose="02040503050406030204" pitchFamily="18" charset="0"/>
                              </a:rPr>
                              <m:t>𝑡</m:t>
                            </m:r>
                            <m:r>
                              <a:rPr lang="en-IN" i="0" dirty="0">
                                <a:latin typeface="Cambria Math" panose="02040503050406030204" pitchFamily="18" charset="0"/>
                              </a:rPr>
                              <m:t>−1</m:t>
                            </m:r>
                          </m:sub>
                        </m:sSub>
                        <m:r>
                          <a:rPr lang="en-IN" i="0" dirty="0">
                            <a:latin typeface="Cambria Math" panose="02040503050406030204" pitchFamily="18" charset="0"/>
                          </a:rPr>
                          <m:t>+⋯+</m:t>
                        </m:r>
                        <m:sSub>
                          <m:sSubPr>
                            <m:ctrlPr>
                              <a:rPr lang="en-IN" i="1" dirty="0">
                                <a:latin typeface="Cambria Math" panose="02040503050406030204" pitchFamily="18" charset="0"/>
                              </a:rPr>
                            </m:ctrlPr>
                          </m:sSubPr>
                          <m:e>
                            <m:r>
                              <a:rPr lang="en-IN" i="1" dirty="0">
                                <a:latin typeface="Cambria Math" panose="02040503050406030204" pitchFamily="18" charset="0"/>
                              </a:rPr>
                              <m:t>𝜖</m:t>
                            </m:r>
                          </m:e>
                          <m:sub>
                            <m:r>
                              <a:rPr lang="en-IN" i="1" dirty="0">
                                <a:latin typeface="Cambria Math" panose="02040503050406030204" pitchFamily="18" charset="0"/>
                              </a:rPr>
                              <m:t>𝑡</m:t>
                            </m:r>
                          </m:sub>
                        </m:sSub>
                      </m:e>
                    </m:borderBox>
                  </m:oMath>
                </a14:m>
                <a:endParaRPr lang="en-IN" dirty="0"/>
              </a:p>
            </p:txBody>
          </p:sp>
        </mc:Choice>
        <mc:Fallback xmlns="">
          <p:sp>
            <p:nvSpPr>
              <p:cNvPr id="46" name="TextBox 45">
                <a:extLst>
                  <a:ext uri="{FF2B5EF4-FFF2-40B4-BE49-F238E27FC236}">
                    <a16:creationId xmlns:a16="http://schemas.microsoft.com/office/drawing/2014/main" id="{EEAACBF4-7F2F-9892-3ACD-805EB75C0D3D}"/>
                  </a:ext>
                </a:extLst>
              </p:cNvPr>
              <p:cNvSpPr txBox="1">
                <a:spLocks noRot="1" noChangeAspect="1" noMove="1" noResize="1" noEditPoints="1" noAdjustHandles="1" noChangeArrowheads="1" noChangeShapeType="1" noTextEdit="1"/>
              </p:cNvSpPr>
              <p:nvPr/>
            </p:nvSpPr>
            <p:spPr>
              <a:xfrm>
                <a:off x="672206" y="2322387"/>
                <a:ext cx="4084647" cy="455446"/>
              </a:xfrm>
              <a:prstGeom prst="rect">
                <a:avLst/>
              </a:prstGeom>
              <a:blipFill>
                <a:blip r:embed="rId3"/>
                <a:stretch>
                  <a:fillRect l="-896" b="-2667"/>
                </a:stretch>
              </a:blipFill>
            </p:spPr>
            <p:txBody>
              <a:bodyPr/>
              <a:lstStyle/>
              <a:p>
                <a:r>
                  <a:rPr lang="en-IN">
                    <a:noFill/>
                  </a:rPr>
                  <a:t> </a:t>
                </a:r>
              </a:p>
            </p:txBody>
          </p:sp>
        </mc:Fallback>
      </mc:AlternateContent>
      <p:sp>
        <p:nvSpPr>
          <p:cNvPr id="47" name="TextBox 46">
            <a:extLst>
              <a:ext uri="{FF2B5EF4-FFF2-40B4-BE49-F238E27FC236}">
                <a16:creationId xmlns:a16="http://schemas.microsoft.com/office/drawing/2014/main" id="{857D4633-FFD2-09A4-7353-9D8A0AC5562A}"/>
              </a:ext>
            </a:extLst>
          </p:cNvPr>
          <p:cNvSpPr txBox="1"/>
          <p:nvPr/>
        </p:nvSpPr>
        <p:spPr>
          <a:xfrm>
            <a:off x="709405" y="3982468"/>
            <a:ext cx="3502250" cy="1077218"/>
          </a:xfrm>
          <a:prstGeom prst="rect">
            <a:avLst/>
          </a:prstGeom>
          <a:noFill/>
        </p:spPr>
        <p:txBody>
          <a:bodyPr wrap="square" rtlCol="0">
            <a:spAutoFit/>
          </a:bodyPr>
          <a:lstStyle/>
          <a:p>
            <a:pPr marL="285750" indent="-285750">
              <a:buFont typeface="Arial" panose="020B0604020202020204" pitchFamily="34" charset="0"/>
              <a:buChar char="•"/>
            </a:pPr>
            <a:r>
              <a:rPr lang="en-IN" sz="1600" dirty="0"/>
              <a:t>AR(p) is simple and efficient, but its </a:t>
            </a:r>
            <a:r>
              <a:rPr lang="en-IN" sz="1600" b="1" dirty="0"/>
              <a:t>linear assumption </a:t>
            </a:r>
            <a:r>
              <a:rPr lang="en-IN" sz="1600" dirty="0"/>
              <a:t>limits its ability to capture complex nonlinear pollutant dynamics.</a:t>
            </a:r>
            <a:endParaRPr lang="en-US" sz="1600" dirty="0"/>
          </a:p>
        </p:txBody>
      </p:sp>
      <p:sp>
        <p:nvSpPr>
          <p:cNvPr id="49" name="TextBox 48">
            <a:extLst>
              <a:ext uri="{FF2B5EF4-FFF2-40B4-BE49-F238E27FC236}">
                <a16:creationId xmlns:a16="http://schemas.microsoft.com/office/drawing/2014/main" id="{C15CEE87-0973-8357-F5A6-1C131AEC40C7}"/>
              </a:ext>
            </a:extLst>
          </p:cNvPr>
          <p:cNvSpPr txBox="1"/>
          <p:nvPr/>
        </p:nvSpPr>
        <p:spPr>
          <a:xfrm>
            <a:off x="4565129" y="2265694"/>
            <a:ext cx="3453089" cy="3539430"/>
          </a:xfrm>
          <a:prstGeom prst="rect">
            <a:avLst/>
          </a:prstGeom>
          <a:noFill/>
        </p:spPr>
        <p:txBody>
          <a:bodyPr wrap="square" rtlCol="0">
            <a:spAutoFit/>
          </a:bodyPr>
          <a:lstStyle/>
          <a:p>
            <a:pPr marL="285750" lvl="0" indent="-285750">
              <a:buFont typeface="Arial" panose="020B0604020202020204" pitchFamily="34" charset="0"/>
              <a:buChar char="•"/>
            </a:pPr>
            <a:r>
              <a:rPr lang="en-IN" sz="1600" b="1" dirty="0"/>
              <a:t>Captures complex nonlinear temporal relationships</a:t>
            </a:r>
            <a:br>
              <a:rPr lang="en-IN" sz="1600" dirty="0"/>
            </a:br>
            <a:r>
              <a:rPr lang="en-IN" sz="1600" dirty="0"/>
              <a:t>RNNs / Transformers</a:t>
            </a:r>
          </a:p>
          <a:p>
            <a:pPr marL="285750" lvl="0" indent="-285750">
              <a:buFont typeface="Arial" panose="020B0604020202020204" pitchFamily="34" charset="0"/>
              <a:buChar char="•"/>
            </a:pPr>
            <a:endParaRPr lang="en-IN" sz="1600" b="1" dirty="0"/>
          </a:p>
          <a:p>
            <a:pPr marL="285750" lvl="0" indent="-285750">
              <a:buFont typeface="Arial" panose="020B0604020202020204" pitchFamily="34" charset="0"/>
              <a:buChar char="•"/>
            </a:pPr>
            <a:r>
              <a:rPr lang="en-IN" sz="1600" b="1" dirty="0"/>
              <a:t>High model complexity and computational cost</a:t>
            </a:r>
            <a:br>
              <a:rPr lang="en-IN" sz="1600" dirty="0"/>
            </a:br>
            <a:endParaRPr lang="en-IN" sz="1600" dirty="0"/>
          </a:p>
          <a:p>
            <a:pPr marL="285750" lvl="0" indent="-285750">
              <a:buFont typeface="Arial" panose="020B0604020202020204" pitchFamily="34" charset="0"/>
              <a:buChar char="•"/>
            </a:pPr>
            <a:r>
              <a:rPr lang="en-IN" sz="1600" dirty="0"/>
              <a:t>Real-time forecasting </a:t>
            </a:r>
            <a:r>
              <a:rPr lang="en-IN" sz="1600" b="1" dirty="0"/>
              <a:t>→ latency matters</a:t>
            </a:r>
            <a:br>
              <a:rPr lang="en-IN" sz="1600" dirty="0"/>
            </a:br>
            <a:r>
              <a:rPr lang="en-IN" sz="1600" dirty="0"/>
              <a:t>A complex architecture may introduce unnecessary computational overhead for this task.</a:t>
            </a:r>
          </a:p>
          <a:p>
            <a:pPr marL="285750" indent="-285750">
              <a:buFont typeface="Arial" panose="020B0604020202020204" pitchFamily="34" charset="0"/>
              <a:buChar char="•"/>
            </a:pPr>
            <a:endParaRPr lang="en-IN" sz="1600" dirty="0"/>
          </a:p>
        </p:txBody>
      </p:sp>
      <p:sp>
        <p:nvSpPr>
          <p:cNvPr id="50" name="TextBox 49">
            <a:extLst>
              <a:ext uri="{FF2B5EF4-FFF2-40B4-BE49-F238E27FC236}">
                <a16:creationId xmlns:a16="http://schemas.microsoft.com/office/drawing/2014/main" id="{0290BDDE-C1DF-371B-1E37-52F5E8F0C1E8}"/>
              </a:ext>
            </a:extLst>
          </p:cNvPr>
          <p:cNvSpPr txBox="1"/>
          <p:nvPr/>
        </p:nvSpPr>
        <p:spPr>
          <a:xfrm>
            <a:off x="8197148" y="2267010"/>
            <a:ext cx="3561933" cy="3539430"/>
          </a:xfrm>
          <a:prstGeom prst="rect">
            <a:avLst/>
          </a:prstGeom>
          <a:noFill/>
        </p:spPr>
        <p:txBody>
          <a:bodyPr wrap="square" rtlCol="0">
            <a:spAutoFit/>
          </a:bodyPr>
          <a:lstStyle/>
          <a:p>
            <a:pPr marL="285750" lvl="0" indent="-285750">
              <a:buFont typeface="Arial" panose="020B0604020202020204" pitchFamily="34" charset="0"/>
              <a:buChar char="•"/>
            </a:pPr>
            <a:r>
              <a:rPr lang="en-IN" sz="1600" b="1" dirty="0"/>
              <a:t>Capture nonlinear relationships</a:t>
            </a:r>
            <a:br>
              <a:rPr lang="en-IN" sz="1600" dirty="0"/>
            </a:br>
            <a:r>
              <a:rPr lang="en-IN" sz="1600" dirty="0"/>
              <a:t>Decision trees can model nonlinear relationships </a:t>
            </a:r>
          </a:p>
          <a:p>
            <a:pPr marL="285750" lvl="0" indent="-285750">
              <a:buFont typeface="Arial" panose="020B0604020202020204" pitchFamily="34" charset="0"/>
              <a:buChar char="•"/>
            </a:pPr>
            <a:endParaRPr lang="en-IN" sz="1600" b="1" dirty="0"/>
          </a:p>
          <a:p>
            <a:pPr marL="285750" lvl="0" indent="-285750">
              <a:buFont typeface="Arial" panose="020B0604020202020204" pitchFamily="34" charset="0"/>
              <a:buChar char="•"/>
            </a:pPr>
            <a:r>
              <a:rPr lang="en-IN" sz="1600" b="1" dirty="0"/>
              <a:t>Efficient and relatively lightweight</a:t>
            </a:r>
            <a:br>
              <a:rPr lang="en-IN" sz="1600" dirty="0"/>
            </a:br>
            <a:endParaRPr lang="en-IN" sz="1600" dirty="0"/>
          </a:p>
          <a:p>
            <a:pPr marL="285750" lvl="0" indent="-285750">
              <a:buFont typeface="Arial" panose="020B0604020202020204" pitchFamily="34" charset="0"/>
              <a:buChar char="•"/>
            </a:pPr>
            <a:r>
              <a:rPr lang="en-IN" sz="1600" b="1" dirty="0"/>
              <a:t>Ensemble methods improve individual trees</a:t>
            </a:r>
          </a:p>
          <a:p>
            <a:pPr marL="285750" lvl="0" indent="-285750">
              <a:buFont typeface="Arial" panose="020B0604020202020204" pitchFamily="34" charset="0"/>
              <a:buChar char="•"/>
            </a:pPr>
            <a:endParaRPr lang="en-IN" sz="1600" b="1" dirty="0"/>
          </a:p>
          <a:p>
            <a:pPr marL="285750" lvl="0" indent="-285750">
              <a:buFont typeface="Arial" panose="020B0604020202020204" pitchFamily="34" charset="0"/>
              <a:buChar char="•"/>
            </a:pPr>
            <a:r>
              <a:rPr lang="en-IN" sz="1600" b="1" dirty="0"/>
              <a:t>Gradient Boosting is particularly suitable</a:t>
            </a:r>
            <a:br>
              <a:rPr lang="en-IN" sz="1600" dirty="0"/>
            </a:br>
            <a:r>
              <a:rPr lang="en-IN" sz="1600" dirty="0"/>
              <a:t>Each new tree focuses on correcting the errors of the existing ensemble.</a:t>
            </a:r>
          </a:p>
          <a:p>
            <a:pPr marL="285750" indent="-285750">
              <a:buFont typeface="Arial" panose="020B0604020202020204" pitchFamily="34" charset="0"/>
              <a:buChar char="•"/>
            </a:pPr>
            <a:endParaRPr lang="en-IN" sz="1600" dirty="0"/>
          </a:p>
        </p:txBody>
      </p:sp>
    </p:spTree>
    <p:extLst>
      <p:ext uri="{BB962C8B-B14F-4D97-AF65-F5344CB8AC3E}">
        <p14:creationId xmlns:p14="http://schemas.microsoft.com/office/powerpoint/2010/main" val="2758773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3524363" cy="553998"/>
          </a:xfrm>
          <a:prstGeom prst="rect">
            <a:avLst/>
          </a:prstGeom>
          <a:noFill/>
        </p:spPr>
        <p:txBody>
          <a:bodyPr wrap="none">
            <a:spAutoFit/>
          </a:bodyPr>
          <a:lstStyle/>
          <a:p>
            <a:r>
              <a:rPr lang="en-US" sz="3000" b="1" i="0" dirty="0">
                <a:solidFill>
                  <a:srgbClr val="1F3A5F"/>
                </a:solidFill>
                <a:latin typeface="Calibri"/>
              </a:rPr>
              <a:t>CatBoost Forecasting</a:t>
            </a:r>
            <a:endParaRPr sz="3000" b="1" i="0" dirty="0">
              <a:solidFill>
                <a:srgbClr val="1F3A5F"/>
              </a:solidFill>
              <a:latin typeface="Calibri"/>
            </a:endParaRP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87428" y="6403052"/>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261610"/>
          </a:xfrm>
          <a:prstGeom prst="rect">
            <a:avLst/>
          </a:prstGeom>
          <a:noFill/>
        </p:spPr>
        <p:txBody>
          <a:bodyPr wrap="square">
            <a:spAutoFit/>
          </a:bodyPr>
          <a:lstStyle/>
          <a:p>
            <a:pPr algn="r">
              <a:spcAft>
                <a:spcPts val="600"/>
              </a:spcAft>
            </a:pPr>
            <a:r>
              <a:rPr lang="en-US" sz="1100" b="0" i="0" dirty="0">
                <a:solidFill>
                  <a:srgbClr val="6B6B6B"/>
                </a:solidFill>
                <a:latin typeface="Calibri"/>
              </a:rPr>
              <a:t>11</a:t>
            </a:r>
            <a:endParaRPr sz="1100" b="0" i="0" dirty="0">
              <a:solidFill>
                <a:srgbClr val="6B6B6B"/>
              </a:solidFill>
              <a:latin typeface="Calibri"/>
            </a:endParaRPr>
          </a:p>
        </p:txBody>
      </p:sp>
      <p:sp>
        <p:nvSpPr>
          <p:cNvPr id="7" name="Rectangle 6"/>
          <p:cNvSpPr/>
          <p:nvPr/>
        </p:nvSpPr>
        <p:spPr>
          <a:xfrm>
            <a:off x="460057" y="1268732"/>
            <a:ext cx="4203383" cy="4914897"/>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ctr"/>
            <a:r>
              <a:rPr lang="en-US" sz="2400" b="1" i="0" dirty="0">
                <a:solidFill>
                  <a:srgbClr val="1F3A5F"/>
                </a:solidFill>
                <a:latin typeface="Calibri"/>
              </a:rPr>
              <a:t>CatBoosting  </a:t>
            </a:r>
          </a:p>
          <a:p>
            <a:pPr algn="l"/>
            <a:endParaRPr lang="en-US" sz="2400" b="1" i="0" dirty="0">
              <a:solidFill>
                <a:srgbClr val="1F3A5F"/>
              </a:solidFill>
              <a:latin typeface="Calibri"/>
            </a:endParaRPr>
          </a:p>
        </p:txBody>
      </p:sp>
      <p:grpSp>
        <p:nvGrpSpPr>
          <p:cNvPr id="18" name="Group 17">
            <a:extLst>
              <a:ext uri="{FF2B5EF4-FFF2-40B4-BE49-F238E27FC236}">
                <a16:creationId xmlns:a16="http://schemas.microsoft.com/office/drawing/2014/main" id="{FDCC2365-6F77-EF15-94DA-95EF116B264A}"/>
              </a:ext>
            </a:extLst>
          </p:cNvPr>
          <p:cNvGrpSpPr/>
          <p:nvPr/>
        </p:nvGrpSpPr>
        <p:grpSpPr>
          <a:xfrm>
            <a:off x="4892041" y="4079977"/>
            <a:ext cx="5496042" cy="2081361"/>
            <a:chOff x="499552" y="2959010"/>
            <a:chExt cx="6724208" cy="2646503"/>
          </a:xfrm>
        </p:grpSpPr>
        <p:sp>
          <p:nvSpPr>
            <p:cNvPr id="8" name="TextBox 7"/>
            <p:cNvSpPr txBox="1"/>
            <p:nvPr/>
          </p:nvSpPr>
          <p:spPr>
            <a:xfrm>
              <a:off x="548640" y="2959010"/>
              <a:ext cx="6675120" cy="547884"/>
            </a:xfrm>
            <a:prstGeom prst="rect">
              <a:avLst/>
            </a:prstGeom>
            <a:noFill/>
          </p:spPr>
          <p:txBody>
            <a:bodyPr wrap="square">
              <a:spAutoFit/>
            </a:bodyPr>
            <a:lstStyle/>
            <a:p>
              <a:pPr algn="ctr">
                <a:spcAft>
                  <a:spcPts val="600"/>
                </a:spcAft>
              </a:pPr>
              <a:r>
                <a:rPr lang="en-US" sz="2200" b="1" i="0" dirty="0">
                  <a:solidFill>
                    <a:srgbClr val="1F3A5F"/>
                  </a:solidFill>
                  <a:latin typeface="Calibri"/>
                </a:rPr>
                <a:t>Random</a:t>
              </a:r>
              <a:r>
                <a:rPr sz="2200" b="1" i="0" dirty="0">
                  <a:solidFill>
                    <a:srgbClr val="1F3A5F"/>
                  </a:solidFill>
                  <a:latin typeface="Calibri"/>
                </a:rPr>
                <a:t> permutations</a:t>
              </a:r>
            </a:p>
          </p:txBody>
        </p:sp>
        <p:pic>
          <p:nvPicPr>
            <p:cNvPr id="9" name="Picture 8" descr="eq_20.png"/>
            <p:cNvPicPr>
              <a:picLocks noChangeAspect="1"/>
            </p:cNvPicPr>
            <p:nvPr/>
          </p:nvPicPr>
          <p:blipFill>
            <a:blip r:embed="rId3"/>
            <a:stretch>
              <a:fillRect/>
            </a:stretch>
          </p:blipFill>
          <p:spPr>
            <a:xfrm>
              <a:off x="2754095" y="3572687"/>
              <a:ext cx="1942290" cy="369283"/>
            </a:xfrm>
            <a:prstGeom prst="rect">
              <a:avLst/>
            </a:prstGeom>
          </p:spPr>
        </p:pic>
        <p:sp>
          <p:nvSpPr>
            <p:cNvPr id="11" name="TextBox 10"/>
            <p:cNvSpPr txBox="1"/>
            <p:nvPr/>
          </p:nvSpPr>
          <p:spPr>
            <a:xfrm>
              <a:off x="499552" y="5194600"/>
              <a:ext cx="6675120" cy="410913"/>
            </a:xfrm>
            <a:prstGeom prst="rect">
              <a:avLst/>
            </a:prstGeom>
            <a:noFill/>
          </p:spPr>
          <p:txBody>
            <a:bodyPr wrap="square">
              <a:spAutoFit/>
            </a:bodyPr>
            <a:lstStyle/>
            <a:p>
              <a:pPr algn="l">
                <a:spcAft>
                  <a:spcPts val="600"/>
                </a:spcAft>
              </a:pPr>
              <a:r>
                <a:rPr sz="1500" b="0" i="0" dirty="0">
                  <a:solidFill>
                    <a:srgbClr val="6B6B6B"/>
                  </a:solidFill>
                  <a:latin typeface="Calibri"/>
                </a:rPr>
                <a:t>L: loss     y_</a:t>
              </a:r>
              <a:r>
                <a:rPr lang="en-US" sz="1500" b="0" i="0" dirty="0">
                  <a:solidFill>
                    <a:srgbClr val="6B6B6B"/>
                  </a:solidFill>
                  <a:latin typeface="Calibri"/>
                </a:rPr>
                <a:t>c</a:t>
              </a:r>
              <a:r>
                <a:rPr sz="1500" b="0" i="0" dirty="0">
                  <a:solidFill>
                    <a:srgbClr val="6B6B6B"/>
                  </a:solidFill>
                  <a:latin typeface="Calibri"/>
                </a:rPr>
                <a:t>: observed target</a:t>
              </a:r>
              <a:r>
                <a:rPr lang="en-US" sz="1500" b="0" i="0" dirty="0">
                  <a:solidFill>
                    <a:srgbClr val="6B6B6B"/>
                  </a:solidFill>
                  <a:latin typeface="Calibri"/>
                </a:rPr>
                <a:t>   y_c^</a:t>
              </a:r>
              <a:r>
                <a:rPr sz="1500" b="0" i="0" dirty="0">
                  <a:solidFill>
                    <a:srgbClr val="6B6B6B"/>
                  </a:solidFill>
                  <a:latin typeface="Calibri"/>
                </a:rPr>
                <a:t>: supporting model prediction</a:t>
              </a:r>
            </a:p>
          </p:txBody>
        </p:sp>
      </p:grpSp>
      <p:sp>
        <p:nvSpPr>
          <p:cNvPr id="14" name="TextBox 13">
            <a:extLst>
              <a:ext uri="{FF2B5EF4-FFF2-40B4-BE49-F238E27FC236}">
                <a16:creationId xmlns:a16="http://schemas.microsoft.com/office/drawing/2014/main" id="{10B9AA7B-3779-05A7-211F-6F697341D757}"/>
              </a:ext>
            </a:extLst>
          </p:cNvPr>
          <p:cNvSpPr txBox="1"/>
          <p:nvPr/>
        </p:nvSpPr>
        <p:spPr>
          <a:xfrm>
            <a:off x="587428" y="1886362"/>
            <a:ext cx="4034259" cy="4278094"/>
          </a:xfrm>
          <a:prstGeom prst="rect">
            <a:avLst/>
          </a:prstGeom>
          <a:noFill/>
        </p:spPr>
        <p:txBody>
          <a:bodyPr wrap="square" rtlCol="0">
            <a:spAutoFit/>
          </a:bodyPr>
          <a:lstStyle/>
          <a:p>
            <a:pPr lvl="0"/>
            <a:r>
              <a:rPr lang="en-IN" sz="1600" b="1" dirty="0"/>
              <a:t>Gradient boosting:</a:t>
            </a:r>
            <a:r>
              <a:rPr lang="en-IN" sz="1600" dirty="0"/>
              <a:t> sequentially builds trees, where each new tree corrects errors of the previous ensemble.</a:t>
            </a:r>
          </a:p>
          <a:p>
            <a:pPr lvl="0"/>
            <a:endParaRPr lang="en-IN" sz="1600" dirty="0"/>
          </a:p>
          <a:p>
            <a:pPr lvl="0"/>
            <a:r>
              <a:rPr lang="en-IN" sz="1600" b="1" dirty="0"/>
              <a:t>Nonlinear modelling:</a:t>
            </a:r>
            <a:r>
              <a:rPr lang="en-IN" sz="1600" dirty="0"/>
              <a:t> captures complex relationships between lagged PM2.5/component values.</a:t>
            </a:r>
          </a:p>
          <a:p>
            <a:pPr lvl="0"/>
            <a:endParaRPr lang="en-IN" sz="1600" dirty="0"/>
          </a:p>
          <a:p>
            <a:pPr lvl="0"/>
            <a:r>
              <a:rPr lang="en-IN" sz="1600" b="1" dirty="0"/>
              <a:t>Ordered boosting:</a:t>
            </a:r>
            <a:r>
              <a:rPr lang="en-IN" sz="1600" dirty="0"/>
              <a:t> reduces </a:t>
            </a:r>
            <a:r>
              <a:rPr lang="en-IN" sz="1600" b="1" dirty="0"/>
              <a:t>prediction shift</a:t>
            </a:r>
            <a:r>
              <a:rPr lang="en-IN" sz="1600" dirty="0"/>
              <a:t> caused by using the same observations to train the model and calculate their gradients/residuals.</a:t>
            </a:r>
          </a:p>
          <a:p>
            <a:pPr lvl="0"/>
            <a:endParaRPr lang="en-IN" sz="1600" dirty="0"/>
          </a:p>
          <a:p>
            <a:pPr lvl="0"/>
            <a:r>
              <a:rPr lang="en-IN" sz="1600" b="1" dirty="0"/>
              <a:t>Suitable for our setting:</a:t>
            </a:r>
            <a:r>
              <a:rPr lang="en-IN" sz="1600" dirty="0"/>
              <a:t> gives nonlinear tree-based modelling without requiring a large neural architecture.</a:t>
            </a:r>
          </a:p>
          <a:p>
            <a:pPr marL="285750" indent="-285750">
              <a:buFont typeface="Arial" panose="020B0604020202020204" pitchFamily="34" charset="0"/>
              <a:buChar char="•"/>
            </a:pPr>
            <a:endParaRPr lang="en-IN" sz="1600" dirty="0"/>
          </a:p>
        </p:txBody>
      </p:sp>
      <p:sp>
        <p:nvSpPr>
          <p:cNvPr id="19" name="TextBox 18">
            <a:extLst>
              <a:ext uri="{FF2B5EF4-FFF2-40B4-BE49-F238E27FC236}">
                <a16:creationId xmlns:a16="http://schemas.microsoft.com/office/drawing/2014/main" id="{FE170D15-FCF2-C0D0-483A-C57960E58E6E}"/>
              </a:ext>
            </a:extLst>
          </p:cNvPr>
          <p:cNvSpPr txBox="1"/>
          <p:nvPr/>
        </p:nvSpPr>
        <p:spPr>
          <a:xfrm>
            <a:off x="7089058" y="5191432"/>
            <a:ext cx="184731" cy="369332"/>
          </a:xfrm>
          <a:prstGeom prst="rect">
            <a:avLst/>
          </a:prstGeom>
          <a:noFill/>
        </p:spPr>
        <p:txBody>
          <a:bodyPr wrap="none" rtlCol="0">
            <a:spAutoFit/>
          </a:bodyPr>
          <a:lstStyle/>
          <a:p>
            <a:endParaRPr lang="en-IN" dirty="0"/>
          </a:p>
        </p:txBody>
      </p:sp>
      <p:sp>
        <p:nvSpPr>
          <p:cNvPr id="22" name="Rectangle 21">
            <a:extLst>
              <a:ext uri="{FF2B5EF4-FFF2-40B4-BE49-F238E27FC236}">
                <a16:creationId xmlns:a16="http://schemas.microsoft.com/office/drawing/2014/main" id="{42C3A793-61F1-8AB0-B451-BB985D8EEBC2}"/>
              </a:ext>
            </a:extLst>
          </p:cNvPr>
          <p:cNvSpPr/>
          <p:nvPr/>
        </p:nvSpPr>
        <p:spPr>
          <a:xfrm>
            <a:off x="4905174" y="1268732"/>
            <a:ext cx="6307556" cy="2667335"/>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ctr"/>
            <a:r>
              <a:rPr lang="en-US" sz="2400" b="1" i="0" dirty="0">
                <a:solidFill>
                  <a:srgbClr val="1F3A5F"/>
                </a:solidFill>
                <a:latin typeface="Calibri"/>
              </a:rPr>
              <a:t>Random Permutations &amp; Ordered Boosting  </a:t>
            </a:r>
          </a:p>
        </p:txBody>
      </p:sp>
      <p:sp>
        <p:nvSpPr>
          <p:cNvPr id="20" name="TextBox 19">
            <a:extLst>
              <a:ext uri="{FF2B5EF4-FFF2-40B4-BE49-F238E27FC236}">
                <a16:creationId xmlns:a16="http://schemas.microsoft.com/office/drawing/2014/main" id="{93D0FB65-B25D-4FE1-A900-6630656BD843}"/>
              </a:ext>
            </a:extLst>
          </p:cNvPr>
          <p:cNvSpPr txBox="1"/>
          <p:nvPr/>
        </p:nvSpPr>
        <p:spPr>
          <a:xfrm>
            <a:off x="4999000" y="2025535"/>
            <a:ext cx="6307556" cy="2062103"/>
          </a:xfrm>
          <a:prstGeom prst="rect">
            <a:avLst/>
          </a:prstGeom>
          <a:noFill/>
        </p:spPr>
        <p:txBody>
          <a:bodyPr wrap="square" rtlCol="0">
            <a:spAutoFit/>
          </a:bodyPr>
          <a:lstStyle/>
          <a:p>
            <a:pPr marL="285750" indent="-285750">
              <a:buFont typeface="Arial" panose="020B0604020202020204" pitchFamily="34" charset="0"/>
              <a:buChar char="•"/>
            </a:pPr>
            <a:r>
              <a:rPr lang="en-IN" sz="1600" b="1" dirty="0"/>
              <a:t>CatBoost</a:t>
            </a:r>
            <a:r>
              <a:rPr lang="en-IN" sz="1600" dirty="0"/>
              <a:t> creates a random permutation of the training samples and uses the preceding samples to build a supporting model for each observation.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Residual/gradient is calculated using a model that has </a:t>
            </a:r>
            <a:r>
              <a:rPr lang="en-IN" sz="1600" b="1" dirty="0"/>
              <a:t>not seen that observation</a:t>
            </a:r>
            <a:r>
              <a:rPr lang="en-IN" sz="1600" dirty="0"/>
              <a:t>, reducing </a:t>
            </a:r>
            <a:r>
              <a:rPr lang="en-IN" sz="1600" b="1" dirty="0"/>
              <a:t>prediction shift (training bias)</a:t>
            </a:r>
            <a:r>
              <a:rPr lang="en-IN" sz="1600" dirty="0"/>
              <a:t>.</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endParaRPr lang="en-IN" sz="1600"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25E638D-7424-AB9C-E947-EC0B0F5E87C9}"/>
                  </a:ext>
                </a:extLst>
              </p:cNvPr>
              <p:cNvSpPr txBox="1"/>
              <p:nvPr/>
            </p:nvSpPr>
            <p:spPr>
              <a:xfrm>
                <a:off x="4480562" y="5138707"/>
                <a:ext cx="6096000" cy="677173"/>
              </a:xfrm>
              <a:prstGeom prst="rect">
                <a:avLst/>
              </a:prstGeom>
              <a:noFill/>
            </p:spPr>
            <p:txBody>
              <a:bodyPr wrap="square">
                <a:spAutoFit/>
              </a:bodyPr>
              <a:lstStyle/>
              <a:p>
                <a:pPr/>
                <a14:m>
                  <m:oMathPara xmlns:m="http://schemas.openxmlformats.org/officeDocument/2006/math">
                    <m:oMath>
                      <m:sSub>
                        <m:sSubPr>
                          <m:ctrlPr>
                            <a:rPr lang="en-IN" i="1">
                              <a:solidFill>
                                <a:srgbClr val="213B60"/>
                              </a:solidFill>
                              <a:latin typeface="Cambria Math" panose="02040503050406030204" pitchFamily="18" charset="0"/>
                            </a:rPr>
                          </m:ctrlPr>
                        </m:sSubPr>
                        <m:e>
                          <m:r>
                            <a:rPr lang="en-IN" i="1">
                              <a:solidFill>
                                <a:srgbClr val="213B60"/>
                              </a:solidFill>
                              <a:latin typeface="Cambria Math" panose="02040503050406030204" pitchFamily="18" charset="0"/>
                            </a:rPr>
                            <m:t>𝑔</m:t>
                          </m:r>
                        </m:e>
                        <m:sub>
                          <m:r>
                            <a:rPr lang="en-IN" i="1">
                              <a:solidFill>
                                <a:srgbClr val="213B60"/>
                              </a:solidFill>
                              <a:latin typeface="Cambria Math" panose="02040503050406030204" pitchFamily="18" charset="0"/>
                            </a:rPr>
                            <m:t>𝐶</m:t>
                          </m:r>
                        </m:sub>
                      </m:sSub>
                      <m:r>
                        <a:rPr lang="en-IN" i="0">
                          <a:solidFill>
                            <a:srgbClr val="213B60"/>
                          </a:solidFill>
                          <a:latin typeface="Cambria Math" panose="02040503050406030204" pitchFamily="18" charset="0"/>
                        </a:rPr>
                        <m:t>=</m:t>
                      </m:r>
                      <m:f>
                        <m:fPr>
                          <m:ctrlPr>
                            <a:rPr lang="en-IN" i="1" smtClean="0">
                              <a:solidFill>
                                <a:srgbClr val="213B60"/>
                              </a:solidFill>
                              <a:latin typeface="Cambria Math" panose="02040503050406030204" pitchFamily="18" charset="0"/>
                            </a:rPr>
                          </m:ctrlPr>
                        </m:fPr>
                        <m:num>
                          <m:r>
                            <a:rPr lang="en-IN" i="1" smtClean="0">
                              <a:solidFill>
                                <a:srgbClr val="213B60"/>
                              </a:solidFill>
                              <a:latin typeface="Cambria Math" panose="02040503050406030204" pitchFamily="18" charset="0"/>
                            </a:rPr>
                            <m:t>𝜕</m:t>
                          </m:r>
                          <m:r>
                            <a:rPr lang="en-IN" i="1" smtClean="0">
                              <a:solidFill>
                                <a:srgbClr val="213B60"/>
                              </a:solidFill>
                              <a:latin typeface="Cambria Math" panose="02040503050406030204" pitchFamily="18" charset="0"/>
                            </a:rPr>
                            <m:t>𝐿</m:t>
                          </m:r>
                          <m:d>
                            <m:dPr>
                              <m:ctrlPr>
                                <a:rPr lang="en-IN" i="1">
                                  <a:solidFill>
                                    <a:srgbClr val="213B60"/>
                                  </a:solidFill>
                                  <a:latin typeface="Cambria Math" panose="02040503050406030204" pitchFamily="18" charset="0"/>
                                </a:rPr>
                              </m:ctrlPr>
                            </m:dPr>
                            <m:e>
                              <m:sSub>
                                <m:sSubPr>
                                  <m:ctrlPr>
                                    <a:rPr lang="en-IN" i="1">
                                      <a:solidFill>
                                        <a:srgbClr val="213B60"/>
                                      </a:solidFill>
                                      <a:latin typeface="Cambria Math" panose="02040503050406030204" pitchFamily="18" charset="0"/>
                                    </a:rPr>
                                  </m:ctrlPr>
                                </m:sSubPr>
                                <m:e>
                                  <m:r>
                                    <a:rPr lang="en-IN" i="1">
                                      <a:solidFill>
                                        <a:srgbClr val="213B60"/>
                                      </a:solidFill>
                                      <a:latin typeface="Cambria Math" panose="02040503050406030204" pitchFamily="18" charset="0"/>
                                    </a:rPr>
                                    <m:t>𝑦</m:t>
                                  </m:r>
                                </m:e>
                                <m:sub>
                                  <m:r>
                                    <a:rPr lang="en-IN" i="1">
                                      <a:solidFill>
                                        <a:srgbClr val="213B60"/>
                                      </a:solidFill>
                                      <a:latin typeface="Cambria Math" panose="02040503050406030204" pitchFamily="18" charset="0"/>
                                    </a:rPr>
                                    <m:t>𝐶</m:t>
                                  </m:r>
                                </m:sub>
                              </m:sSub>
                              <m:r>
                                <a:rPr lang="en-IN" i="0">
                                  <a:solidFill>
                                    <a:srgbClr val="213B60"/>
                                  </a:solidFill>
                                  <a:latin typeface="Cambria Math" panose="02040503050406030204" pitchFamily="18" charset="0"/>
                                </a:rPr>
                                <m:t>,</m:t>
                              </m:r>
                              <m:sSub>
                                <m:sSubPr>
                                  <m:ctrlPr>
                                    <a:rPr lang="en-IN" i="1">
                                      <a:solidFill>
                                        <a:srgbClr val="213B60"/>
                                      </a:solidFill>
                                      <a:latin typeface="Cambria Math" panose="02040503050406030204" pitchFamily="18" charset="0"/>
                                    </a:rPr>
                                  </m:ctrlPr>
                                </m:sSubPr>
                                <m:e>
                                  <m:acc>
                                    <m:accPr>
                                      <m:chr m:val="ˆ"/>
                                      <m:ctrlPr>
                                        <a:rPr lang="en-IN" i="1">
                                          <a:solidFill>
                                            <a:srgbClr val="213B60"/>
                                          </a:solidFill>
                                          <a:latin typeface="Cambria Math" panose="02040503050406030204" pitchFamily="18" charset="0"/>
                                        </a:rPr>
                                      </m:ctrlPr>
                                    </m:accPr>
                                    <m:e>
                                      <m:r>
                                        <a:rPr lang="en-IN" i="1">
                                          <a:solidFill>
                                            <a:srgbClr val="213B60"/>
                                          </a:solidFill>
                                          <a:latin typeface="Cambria Math" panose="02040503050406030204" pitchFamily="18" charset="0"/>
                                        </a:rPr>
                                        <m:t>𝑦</m:t>
                                      </m:r>
                                    </m:e>
                                  </m:acc>
                                </m:e>
                                <m:sub>
                                  <m:r>
                                    <a:rPr lang="en-IN" i="1">
                                      <a:solidFill>
                                        <a:srgbClr val="213B60"/>
                                      </a:solidFill>
                                      <a:latin typeface="Cambria Math" panose="02040503050406030204" pitchFamily="18" charset="0"/>
                                    </a:rPr>
                                    <m:t>𝐶</m:t>
                                  </m:r>
                                </m:sub>
                              </m:sSub>
                            </m:e>
                          </m:d>
                        </m:num>
                        <m:den>
                          <m:r>
                            <a:rPr lang="en-IN" i="1">
                              <a:solidFill>
                                <a:srgbClr val="213B60"/>
                              </a:solidFill>
                              <a:latin typeface="Cambria Math" panose="02040503050406030204" pitchFamily="18" charset="0"/>
                            </a:rPr>
                            <m:t>𝜕</m:t>
                          </m:r>
                          <m:sSub>
                            <m:sSubPr>
                              <m:ctrlPr>
                                <a:rPr lang="en-IN" i="1">
                                  <a:solidFill>
                                    <a:srgbClr val="213B60"/>
                                  </a:solidFill>
                                  <a:latin typeface="Cambria Math" panose="02040503050406030204" pitchFamily="18" charset="0"/>
                                </a:rPr>
                              </m:ctrlPr>
                            </m:sSubPr>
                            <m:e>
                              <m:acc>
                                <m:accPr>
                                  <m:chr m:val="ˆ"/>
                                  <m:ctrlPr>
                                    <a:rPr lang="en-IN" i="1">
                                      <a:solidFill>
                                        <a:srgbClr val="213B60"/>
                                      </a:solidFill>
                                      <a:latin typeface="Cambria Math" panose="02040503050406030204" pitchFamily="18" charset="0"/>
                                    </a:rPr>
                                  </m:ctrlPr>
                                </m:accPr>
                                <m:e>
                                  <m:r>
                                    <a:rPr lang="en-IN" i="1">
                                      <a:solidFill>
                                        <a:srgbClr val="213B60"/>
                                      </a:solidFill>
                                      <a:latin typeface="Cambria Math" panose="02040503050406030204" pitchFamily="18" charset="0"/>
                                    </a:rPr>
                                    <m:t>𝑦</m:t>
                                  </m:r>
                                </m:e>
                              </m:acc>
                            </m:e>
                            <m:sub>
                              <m:r>
                                <a:rPr lang="en-IN" i="1">
                                  <a:solidFill>
                                    <a:srgbClr val="213B60"/>
                                  </a:solidFill>
                                  <a:latin typeface="Cambria Math" panose="02040503050406030204" pitchFamily="18" charset="0"/>
                                </a:rPr>
                                <m:t>𝐶</m:t>
                              </m:r>
                            </m:sub>
                          </m:sSub>
                        </m:den>
                      </m:f>
                    </m:oMath>
                  </m:oMathPara>
                </a14:m>
                <a:endParaRPr lang="en-IN" dirty="0">
                  <a:solidFill>
                    <a:srgbClr val="213B60"/>
                  </a:solidFill>
                </a:endParaRPr>
              </a:p>
            </p:txBody>
          </p:sp>
        </mc:Choice>
        <mc:Fallback xmlns="">
          <p:sp>
            <p:nvSpPr>
              <p:cNvPr id="24" name="TextBox 23">
                <a:extLst>
                  <a:ext uri="{FF2B5EF4-FFF2-40B4-BE49-F238E27FC236}">
                    <a16:creationId xmlns:a16="http://schemas.microsoft.com/office/drawing/2014/main" id="{725E638D-7424-AB9C-E947-EC0B0F5E87C9}"/>
                  </a:ext>
                </a:extLst>
              </p:cNvPr>
              <p:cNvSpPr txBox="1">
                <a:spLocks noRot="1" noChangeAspect="1" noMove="1" noResize="1" noEditPoints="1" noAdjustHandles="1" noChangeArrowheads="1" noChangeShapeType="1" noTextEdit="1"/>
              </p:cNvSpPr>
              <p:nvPr/>
            </p:nvSpPr>
            <p:spPr>
              <a:xfrm>
                <a:off x="4480562" y="5138707"/>
                <a:ext cx="6096000" cy="677173"/>
              </a:xfrm>
              <a:prstGeom prst="rect">
                <a:avLst/>
              </a:prstGeom>
              <a:blipFill>
                <a:blip r:embed="rId4"/>
                <a:stretch>
                  <a:fillRect/>
                </a:stretch>
              </a:blipFill>
            </p:spPr>
            <p:txBody>
              <a:bodyPr/>
              <a:lstStyle/>
              <a:p>
                <a:r>
                  <a:rPr lang="en-IN">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dirty="0">
                <a:solidFill>
                  <a:srgbClr val="1F3A5F"/>
                </a:solidFill>
                <a:latin typeface="Calibri"/>
              </a:rPr>
              <a:t>CatBoost Forecasting</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261610"/>
          </a:xfrm>
          <a:prstGeom prst="rect">
            <a:avLst/>
          </a:prstGeom>
          <a:noFill/>
        </p:spPr>
        <p:txBody>
          <a:bodyPr wrap="square">
            <a:spAutoFit/>
          </a:bodyPr>
          <a:lstStyle/>
          <a:p>
            <a:pPr algn="r">
              <a:spcAft>
                <a:spcPts val="600"/>
              </a:spcAft>
            </a:pPr>
            <a:r>
              <a:rPr lang="en-US" sz="1100" b="0" i="0" dirty="0">
                <a:solidFill>
                  <a:srgbClr val="6B6B6B"/>
                </a:solidFill>
                <a:latin typeface="Calibri"/>
              </a:rPr>
              <a:t>12</a:t>
            </a:r>
            <a:endParaRPr sz="1100" b="0" i="0" dirty="0">
              <a:solidFill>
                <a:srgbClr val="6B6B6B"/>
              </a:solidFill>
              <a:latin typeface="Calibri"/>
            </a:endParaRPr>
          </a:p>
        </p:txBody>
      </p:sp>
      <p:sp>
        <p:nvSpPr>
          <p:cNvPr id="6" name="TextBox 5"/>
          <p:cNvSpPr txBox="1"/>
          <p:nvPr/>
        </p:nvSpPr>
        <p:spPr>
          <a:xfrm>
            <a:off x="548640" y="1280160"/>
            <a:ext cx="5852160" cy="457200"/>
          </a:xfrm>
          <a:prstGeom prst="rect">
            <a:avLst/>
          </a:prstGeom>
          <a:noFill/>
        </p:spPr>
        <p:txBody>
          <a:bodyPr wrap="square">
            <a:spAutoFit/>
          </a:bodyPr>
          <a:lstStyle/>
          <a:p>
            <a:pPr algn="l">
              <a:spcAft>
                <a:spcPts val="600"/>
              </a:spcAft>
            </a:pPr>
            <a:r>
              <a:rPr sz="1800" b="1" i="0">
                <a:solidFill>
                  <a:srgbClr val="1F3A5F"/>
                </a:solidFill>
                <a:latin typeface="Calibri"/>
              </a:rPr>
              <a:t>Gradient-boosted decision trees (simplified)</a:t>
            </a:r>
          </a:p>
        </p:txBody>
      </p:sp>
      <p:pic>
        <p:nvPicPr>
          <p:cNvPr id="7" name="Picture 6" descr="eq_17.png"/>
          <p:cNvPicPr>
            <a:picLocks noChangeAspect="1"/>
          </p:cNvPicPr>
          <p:nvPr/>
        </p:nvPicPr>
        <p:blipFill>
          <a:blip r:embed="rId3"/>
          <a:stretch>
            <a:fillRect/>
          </a:stretch>
        </p:blipFill>
        <p:spPr>
          <a:xfrm>
            <a:off x="731520" y="1783080"/>
            <a:ext cx="4434840" cy="1033271"/>
          </a:xfrm>
          <a:prstGeom prst="rect">
            <a:avLst/>
          </a:prstGeom>
        </p:spPr>
      </p:pic>
      <p:sp>
        <p:nvSpPr>
          <p:cNvPr id="8" name="TextBox 7"/>
          <p:cNvSpPr txBox="1"/>
          <p:nvPr/>
        </p:nvSpPr>
        <p:spPr>
          <a:xfrm>
            <a:off x="548640" y="2834640"/>
            <a:ext cx="5852160" cy="1280160"/>
          </a:xfrm>
          <a:prstGeom prst="rect">
            <a:avLst/>
          </a:prstGeom>
          <a:noFill/>
        </p:spPr>
        <p:txBody>
          <a:bodyPr wrap="square">
            <a:spAutoFit/>
          </a:bodyPr>
          <a:lstStyle/>
          <a:p>
            <a:pPr algn="l">
              <a:spcAft>
                <a:spcPts val="200"/>
              </a:spcAft>
            </a:pPr>
            <a:r>
              <a:rPr sz="1600" b="0" i="0">
                <a:solidFill>
                  <a:srgbClr val="6B6B6B"/>
                </a:solidFill>
                <a:latin typeface="Calibri"/>
              </a:rPr>
              <a:t>      –  T_m: tree added at iteration m</a:t>
            </a:r>
          </a:p>
          <a:p>
            <a:pPr algn="l">
              <a:spcAft>
                <a:spcPts val="200"/>
              </a:spcAft>
            </a:pPr>
            <a:r>
              <a:rPr sz="1600" b="0" i="0">
                <a:solidFill>
                  <a:srgbClr val="6B6B6B"/>
                </a:solidFill>
                <a:latin typeface="Calibri"/>
              </a:rPr>
              <a:t>      –  M: number of boosting iterations</a:t>
            </a:r>
          </a:p>
          <a:p>
            <a:pPr algn="l">
              <a:spcAft>
                <a:spcPts val="200"/>
              </a:spcAft>
            </a:pPr>
            <a:r>
              <a:rPr sz="1600" b="0" i="0">
                <a:solidFill>
                  <a:srgbClr val="6B6B6B"/>
                </a:solidFill>
                <a:latin typeface="Calibri"/>
              </a:rPr>
              <a:t>      –  η: learning-rate scaling</a:t>
            </a:r>
          </a:p>
        </p:txBody>
      </p:sp>
      <p:sp>
        <p:nvSpPr>
          <p:cNvPr id="9" name="TextBox 8"/>
          <p:cNvSpPr txBox="1"/>
          <p:nvPr/>
        </p:nvSpPr>
        <p:spPr>
          <a:xfrm>
            <a:off x="548640" y="3977639"/>
            <a:ext cx="5852160" cy="457200"/>
          </a:xfrm>
          <a:prstGeom prst="rect">
            <a:avLst/>
          </a:prstGeom>
          <a:noFill/>
        </p:spPr>
        <p:txBody>
          <a:bodyPr wrap="square">
            <a:spAutoFit/>
          </a:bodyPr>
          <a:lstStyle/>
          <a:p>
            <a:pPr algn="l">
              <a:spcAft>
                <a:spcPts val="600"/>
              </a:spcAft>
            </a:pPr>
            <a:r>
              <a:rPr sz="1800" b="1" i="0">
                <a:solidFill>
                  <a:srgbClr val="1F3A5F"/>
                </a:solidFill>
                <a:latin typeface="Calibri"/>
              </a:rPr>
              <a:t>Component forecasting</a:t>
            </a:r>
          </a:p>
        </p:txBody>
      </p:sp>
      <p:pic>
        <p:nvPicPr>
          <p:cNvPr id="10" name="Picture 9" descr="eq_18.png"/>
          <p:cNvPicPr>
            <a:picLocks noChangeAspect="1"/>
          </p:cNvPicPr>
          <p:nvPr/>
        </p:nvPicPr>
        <p:blipFill>
          <a:blip r:embed="rId4"/>
          <a:stretch>
            <a:fillRect/>
          </a:stretch>
        </p:blipFill>
        <p:spPr>
          <a:xfrm>
            <a:off x="731520" y="4434840"/>
            <a:ext cx="4888992" cy="454152"/>
          </a:xfrm>
          <a:prstGeom prst="rect">
            <a:avLst/>
          </a:prstGeom>
        </p:spPr>
      </p:pic>
      <p:pic>
        <p:nvPicPr>
          <p:cNvPr id="11" name="Picture 10" descr="eq_19.png"/>
          <p:cNvPicPr>
            <a:picLocks noChangeAspect="1"/>
          </p:cNvPicPr>
          <p:nvPr/>
        </p:nvPicPr>
        <p:blipFill>
          <a:blip r:embed="rId5"/>
          <a:stretch>
            <a:fillRect/>
          </a:stretch>
        </p:blipFill>
        <p:spPr>
          <a:xfrm>
            <a:off x="731520" y="5166360"/>
            <a:ext cx="3883152" cy="460247"/>
          </a:xfrm>
          <a:prstGeom prst="rect">
            <a:avLst/>
          </a:prstGeom>
        </p:spPr>
      </p:pic>
      <p:sp>
        <p:nvSpPr>
          <p:cNvPr id="12" name="Rectangle 11"/>
          <p:cNvSpPr/>
          <p:nvPr/>
        </p:nvSpPr>
        <p:spPr>
          <a:xfrm>
            <a:off x="6949440" y="1645920"/>
            <a:ext cx="132588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Dk(t-3)</a:t>
            </a:r>
          </a:p>
        </p:txBody>
      </p:sp>
      <p:cxnSp>
        <p:nvCxnSpPr>
          <p:cNvPr id="13" name="Connector 12"/>
          <p:cNvCxnSpPr/>
          <p:nvPr/>
        </p:nvCxnSpPr>
        <p:spPr>
          <a:xfrm>
            <a:off x="7607808" y="2194560"/>
            <a:ext cx="1399032" cy="73152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549640" y="1645920"/>
            <a:ext cx="132588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Dk(t-2)</a:t>
            </a:r>
          </a:p>
        </p:txBody>
      </p:sp>
      <p:cxnSp>
        <p:nvCxnSpPr>
          <p:cNvPr id="15" name="Connector 14"/>
          <p:cNvCxnSpPr/>
          <p:nvPr/>
        </p:nvCxnSpPr>
        <p:spPr>
          <a:xfrm flipH="1">
            <a:off x="9006840" y="2194560"/>
            <a:ext cx="201168" cy="73152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0149840" y="1645920"/>
            <a:ext cx="132588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i="0">
                <a:solidFill>
                  <a:srgbClr val="1F3A5F"/>
                </a:solidFill>
                <a:latin typeface="Calibri"/>
              </a:rPr>
              <a:t>Dk(t-1)</a:t>
            </a:r>
          </a:p>
        </p:txBody>
      </p:sp>
      <p:cxnSp>
        <p:nvCxnSpPr>
          <p:cNvPr id="17" name="Connector 16"/>
          <p:cNvCxnSpPr/>
          <p:nvPr/>
        </p:nvCxnSpPr>
        <p:spPr>
          <a:xfrm flipH="1">
            <a:off x="9006840" y="2194560"/>
            <a:ext cx="1801368" cy="73152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8092440" y="2926080"/>
            <a:ext cx="1828800" cy="64008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700" b="1" i="0" dirty="0">
                <a:solidFill>
                  <a:srgbClr val="FFFFFF"/>
                </a:solidFill>
                <a:latin typeface="Calibri"/>
              </a:rPr>
              <a:t>CatBoost</a:t>
            </a:r>
          </a:p>
        </p:txBody>
      </p:sp>
      <p:cxnSp>
        <p:nvCxnSpPr>
          <p:cNvPr id="19" name="Connector 18"/>
          <p:cNvCxnSpPr/>
          <p:nvPr/>
        </p:nvCxnSpPr>
        <p:spPr>
          <a:xfrm>
            <a:off x="9006840" y="3566160"/>
            <a:ext cx="0" cy="54864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321040" y="4114800"/>
            <a:ext cx="137160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1F3A5F"/>
                </a:solidFill>
                <a:latin typeface="Calibri"/>
              </a:rPr>
              <a:t>Dk(t)</a:t>
            </a:r>
          </a:p>
        </p:txBody>
      </p:sp>
      <p:sp>
        <p:nvSpPr>
          <p:cNvPr id="21" name="Rectangle 20"/>
          <p:cNvSpPr/>
          <p:nvPr/>
        </p:nvSpPr>
        <p:spPr>
          <a:xfrm>
            <a:off x="6772017" y="5180715"/>
            <a:ext cx="4480560" cy="10058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500" b="1" i="0" dirty="0">
                <a:solidFill>
                  <a:srgbClr val="1F3A5F"/>
                </a:solidFill>
                <a:latin typeface="Calibri"/>
              </a:rPr>
              <a:t>Important</a:t>
            </a:r>
          </a:p>
          <a:p>
            <a:pPr algn="l">
              <a:spcBef>
                <a:spcPts val="400"/>
              </a:spcBef>
            </a:pPr>
            <a:r>
              <a:rPr sz="1500" b="0" i="0" dirty="0">
                <a:solidFill>
                  <a:srgbClr val="262626"/>
                </a:solidFill>
                <a:latin typeface="Calibri"/>
              </a:rPr>
              <a:t>A separate CatBoost model is trained for each wavelet component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Complete WaveCatBoost Architecture</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261610"/>
          </a:xfrm>
          <a:prstGeom prst="rect">
            <a:avLst/>
          </a:prstGeom>
          <a:noFill/>
        </p:spPr>
        <p:txBody>
          <a:bodyPr wrap="square">
            <a:spAutoFit/>
          </a:bodyPr>
          <a:lstStyle/>
          <a:p>
            <a:pPr algn="r">
              <a:spcAft>
                <a:spcPts val="600"/>
              </a:spcAft>
            </a:pPr>
            <a:r>
              <a:rPr lang="en-US" sz="1100" b="0" i="0" dirty="0">
                <a:solidFill>
                  <a:srgbClr val="6B6B6B"/>
                </a:solidFill>
                <a:latin typeface="Calibri"/>
              </a:rPr>
              <a:t>13</a:t>
            </a:r>
            <a:endParaRPr sz="1100" b="0" i="0" dirty="0">
              <a:solidFill>
                <a:srgbClr val="6B6B6B"/>
              </a:solidFill>
              <a:latin typeface="Calibri"/>
            </a:endParaRPr>
          </a:p>
        </p:txBody>
      </p:sp>
      <p:sp>
        <p:nvSpPr>
          <p:cNvPr id="6" name="Rectangle 5"/>
          <p:cNvSpPr/>
          <p:nvPr/>
        </p:nvSpPr>
        <p:spPr>
          <a:xfrm>
            <a:off x="548640" y="2514600"/>
            <a:ext cx="114300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1F3A5F"/>
                </a:solidFill>
                <a:latin typeface="Calibri"/>
              </a:rPr>
              <a:t>Raw data</a:t>
            </a:r>
          </a:p>
        </p:txBody>
      </p:sp>
      <p:sp>
        <p:nvSpPr>
          <p:cNvPr id="7" name="Rectangle 6"/>
          <p:cNvSpPr/>
          <p:nvPr/>
        </p:nvSpPr>
        <p:spPr>
          <a:xfrm>
            <a:off x="1920240" y="2514600"/>
            <a:ext cx="123444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1F3A5F"/>
                </a:solidFill>
                <a:latin typeface="Calibri"/>
              </a:rPr>
              <a:t>Preprocessing</a:t>
            </a:r>
          </a:p>
        </p:txBody>
      </p:sp>
      <p:sp>
        <p:nvSpPr>
          <p:cNvPr id="8" name="Rectangle 7"/>
          <p:cNvSpPr/>
          <p:nvPr/>
        </p:nvSpPr>
        <p:spPr>
          <a:xfrm>
            <a:off x="3383280" y="2514600"/>
            <a:ext cx="1005840" cy="54864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FFFFFF"/>
                </a:solidFill>
                <a:latin typeface="Calibri"/>
              </a:rPr>
              <a:t>MODWT</a:t>
            </a:r>
          </a:p>
        </p:txBody>
      </p:sp>
      <p:cxnSp>
        <p:nvCxnSpPr>
          <p:cNvPr id="9" name="Connector 8"/>
          <p:cNvCxnSpPr/>
          <p:nvPr/>
        </p:nvCxnSpPr>
        <p:spPr>
          <a:xfrm>
            <a:off x="1691640" y="2788920"/>
            <a:ext cx="2286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154680" y="2788920"/>
            <a:ext cx="2286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663440" y="1600200"/>
            <a:ext cx="109728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1F3A5F"/>
                </a:solidFill>
                <a:latin typeface="Calibri"/>
              </a:rPr>
              <a:t>D1</a:t>
            </a:r>
          </a:p>
        </p:txBody>
      </p:sp>
      <p:sp>
        <p:nvSpPr>
          <p:cNvPr id="12" name="Rectangle 11"/>
          <p:cNvSpPr/>
          <p:nvPr/>
        </p:nvSpPr>
        <p:spPr>
          <a:xfrm>
            <a:off x="6035040" y="1600200"/>
            <a:ext cx="1234440" cy="54864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dirty="0">
                <a:solidFill>
                  <a:srgbClr val="FFFFFF"/>
                </a:solidFill>
                <a:latin typeface="Calibri"/>
              </a:rPr>
              <a:t>CatBoost 1</a:t>
            </a:r>
          </a:p>
        </p:txBody>
      </p:sp>
      <p:sp>
        <p:nvSpPr>
          <p:cNvPr id="13" name="Rectangle 12"/>
          <p:cNvSpPr/>
          <p:nvPr/>
        </p:nvSpPr>
        <p:spPr>
          <a:xfrm>
            <a:off x="7543800" y="1600200"/>
            <a:ext cx="132588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1F3A5F"/>
                </a:solidFill>
                <a:latin typeface="Calibri"/>
              </a:rPr>
              <a:t>D1 forecast</a:t>
            </a:r>
          </a:p>
        </p:txBody>
      </p:sp>
      <p:cxnSp>
        <p:nvCxnSpPr>
          <p:cNvPr id="14" name="Connector 13"/>
          <p:cNvCxnSpPr/>
          <p:nvPr/>
        </p:nvCxnSpPr>
        <p:spPr>
          <a:xfrm flipV="1">
            <a:off x="4389120" y="1874519"/>
            <a:ext cx="274320" cy="914401"/>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0720" y="1874519"/>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269480" y="1874519"/>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869680" y="1874519"/>
            <a:ext cx="274320" cy="914401"/>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663440" y="2514600"/>
            <a:ext cx="109728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1F3A5F"/>
                </a:solidFill>
                <a:latin typeface="Calibri"/>
              </a:rPr>
              <a:t>D2 … DK</a:t>
            </a:r>
          </a:p>
        </p:txBody>
      </p:sp>
      <p:sp>
        <p:nvSpPr>
          <p:cNvPr id="19" name="Rectangle 18"/>
          <p:cNvSpPr/>
          <p:nvPr/>
        </p:nvSpPr>
        <p:spPr>
          <a:xfrm>
            <a:off x="6035040" y="2514600"/>
            <a:ext cx="1234440" cy="54864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dirty="0">
                <a:solidFill>
                  <a:srgbClr val="FFFFFF"/>
                </a:solidFill>
                <a:latin typeface="Calibri"/>
              </a:rPr>
              <a:t>CatBoost 2…K</a:t>
            </a:r>
          </a:p>
        </p:txBody>
      </p:sp>
      <p:sp>
        <p:nvSpPr>
          <p:cNvPr id="20" name="Rectangle 19"/>
          <p:cNvSpPr/>
          <p:nvPr/>
        </p:nvSpPr>
        <p:spPr>
          <a:xfrm>
            <a:off x="7543800" y="2514600"/>
            <a:ext cx="132588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1F3A5F"/>
                </a:solidFill>
                <a:latin typeface="Calibri"/>
              </a:rPr>
              <a:t>D2…DK forecasts</a:t>
            </a:r>
          </a:p>
        </p:txBody>
      </p:sp>
      <p:cxnSp>
        <p:nvCxnSpPr>
          <p:cNvPr id="21" name="Connector 20"/>
          <p:cNvCxnSpPr/>
          <p:nvPr/>
        </p:nvCxnSpPr>
        <p:spPr>
          <a:xfrm>
            <a:off x="4389120" y="2788920"/>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60720" y="2788920"/>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269480" y="2788920"/>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869680" y="2788920"/>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663440" y="3429000"/>
            <a:ext cx="109728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1F3A5F"/>
                </a:solidFill>
                <a:latin typeface="Calibri"/>
              </a:rPr>
              <a:t>SK</a:t>
            </a:r>
          </a:p>
        </p:txBody>
      </p:sp>
      <p:sp>
        <p:nvSpPr>
          <p:cNvPr id="26" name="Rectangle 25"/>
          <p:cNvSpPr/>
          <p:nvPr/>
        </p:nvSpPr>
        <p:spPr>
          <a:xfrm>
            <a:off x="6035040" y="3429000"/>
            <a:ext cx="1234440" cy="54864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dirty="0">
                <a:solidFill>
                  <a:srgbClr val="FFFFFF"/>
                </a:solidFill>
                <a:latin typeface="Calibri"/>
              </a:rPr>
              <a:t>CatBoost S</a:t>
            </a:r>
          </a:p>
        </p:txBody>
      </p:sp>
      <p:sp>
        <p:nvSpPr>
          <p:cNvPr id="27" name="Rectangle 26"/>
          <p:cNvSpPr/>
          <p:nvPr/>
        </p:nvSpPr>
        <p:spPr>
          <a:xfrm>
            <a:off x="7543800" y="3429000"/>
            <a:ext cx="132588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1F3A5F"/>
                </a:solidFill>
                <a:latin typeface="Calibri"/>
              </a:rPr>
              <a:t>SK forecast</a:t>
            </a:r>
          </a:p>
        </p:txBody>
      </p:sp>
      <p:cxnSp>
        <p:nvCxnSpPr>
          <p:cNvPr id="28" name="Connector 27"/>
          <p:cNvCxnSpPr/>
          <p:nvPr/>
        </p:nvCxnSpPr>
        <p:spPr>
          <a:xfrm>
            <a:off x="4389120" y="2788920"/>
            <a:ext cx="274320" cy="91440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760720" y="3703320"/>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269480" y="3703320"/>
            <a:ext cx="27432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869680" y="2788920"/>
            <a:ext cx="274320" cy="91440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9144000" y="2514600"/>
            <a:ext cx="1097280" cy="54864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FFFFFF"/>
                </a:solidFill>
                <a:latin typeface="Calibri"/>
              </a:rPr>
              <a:t>Inverse</a:t>
            </a:r>
          </a:p>
          <a:p>
            <a:pPr algn="ctr"/>
            <a:r>
              <a:rPr sz="1300" b="1" i="0">
                <a:solidFill>
                  <a:srgbClr val="FFFFFF"/>
                </a:solidFill>
                <a:latin typeface="Calibri"/>
              </a:rPr>
              <a:t>MODWT</a:t>
            </a:r>
          </a:p>
        </p:txBody>
      </p:sp>
      <p:sp>
        <p:nvSpPr>
          <p:cNvPr id="33" name="Rectangle 32"/>
          <p:cNvSpPr/>
          <p:nvPr/>
        </p:nvSpPr>
        <p:spPr>
          <a:xfrm>
            <a:off x="10469880" y="2514600"/>
            <a:ext cx="114300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1F3A5F"/>
                </a:solidFill>
                <a:latin typeface="Calibri"/>
              </a:rPr>
              <a:t>Final</a:t>
            </a:r>
          </a:p>
          <a:p>
            <a:pPr algn="ctr"/>
            <a:r>
              <a:rPr sz="1300" b="1" i="0">
                <a:solidFill>
                  <a:srgbClr val="1F3A5F"/>
                </a:solidFill>
                <a:latin typeface="Calibri"/>
              </a:rPr>
              <a:t>forecast</a:t>
            </a:r>
          </a:p>
        </p:txBody>
      </p:sp>
      <p:cxnSp>
        <p:nvCxnSpPr>
          <p:cNvPr id="34" name="Connector 33"/>
          <p:cNvCxnSpPr/>
          <p:nvPr/>
        </p:nvCxnSpPr>
        <p:spPr>
          <a:xfrm>
            <a:off x="10241280" y="2788920"/>
            <a:ext cx="2286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0287000" y="3611880"/>
            <a:ext cx="1325880" cy="54864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FFFFFF"/>
                </a:solidFill>
                <a:latin typeface="Calibri"/>
              </a:rPr>
              <a:t>Conformal</a:t>
            </a:r>
          </a:p>
          <a:p>
            <a:pPr algn="ctr"/>
            <a:r>
              <a:rPr sz="1300" b="1" i="0">
                <a:solidFill>
                  <a:srgbClr val="FFFFFF"/>
                </a:solidFill>
                <a:latin typeface="Calibri"/>
              </a:rPr>
              <a:t>prediction</a:t>
            </a:r>
          </a:p>
        </p:txBody>
      </p:sp>
      <p:sp>
        <p:nvSpPr>
          <p:cNvPr id="36" name="Rectangle 35"/>
          <p:cNvSpPr/>
          <p:nvPr/>
        </p:nvSpPr>
        <p:spPr>
          <a:xfrm>
            <a:off x="10287000" y="4572000"/>
            <a:ext cx="1325880" cy="54864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1F3A5F"/>
                </a:solidFill>
                <a:latin typeface="Calibri"/>
              </a:rPr>
              <a:t>Prediction</a:t>
            </a:r>
          </a:p>
          <a:p>
            <a:pPr algn="ctr"/>
            <a:r>
              <a:rPr sz="1300" b="1" i="0">
                <a:solidFill>
                  <a:srgbClr val="1F3A5F"/>
                </a:solidFill>
                <a:latin typeface="Calibri"/>
              </a:rPr>
              <a:t>interval</a:t>
            </a:r>
          </a:p>
        </p:txBody>
      </p:sp>
      <p:cxnSp>
        <p:nvCxnSpPr>
          <p:cNvPr id="37" name="Connector 36"/>
          <p:cNvCxnSpPr/>
          <p:nvPr/>
        </p:nvCxnSpPr>
        <p:spPr>
          <a:xfrm flipH="1">
            <a:off x="10945368" y="3063240"/>
            <a:ext cx="91440" cy="54864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945368" y="4160520"/>
            <a:ext cx="0" cy="41148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48640" y="4343400"/>
            <a:ext cx="9144000" cy="457200"/>
          </a:xfrm>
          <a:prstGeom prst="rect">
            <a:avLst/>
          </a:prstGeom>
          <a:noFill/>
        </p:spPr>
        <p:txBody>
          <a:bodyPr wrap="square">
            <a:spAutoFit/>
          </a:bodyPr>
          <a:lstStyle/>
          <a:p>
            <a:pPr algn="l">
              <a:spcAft>
                <a:spcPts val="600"/>
              </a:spcAft>
            </a:pPr>
            <a:r>
              <a:rPr sz="1800" b="1" i="0">
                <a:solidFill>
                  <a:srgbClr val="1F3A5F"/>
                </a:solidFill>
                <a:latin typeface="Calibri"/>
              </a:rPr>
              <a:t>Final forecast</a:t>
            </a:r>
          </a:p>
        </p:txBody>
      </p:sp>
      <p:pic>
        <p:nvPicPr>
          <p:cNvPr id="40" name="Picture 39" descr="eq_22.png"/>
          <p:cNvPicPr>
            <a:picLocks noChangeAspect="1"/>
          </p:cNvPicPr>
          <p:nvPr/>
        </p:nvPicPr>
        <p:blipFill>
          <a:blip r:embed="rId3"/>
          <a:stretch>
            <a:fillRect/>
          </a:stretch>
        </p:blipFill>
        <p:spPr>
          <a:xfrm>
            <a:off x="731520" y="4800600"/>
            <a:ext cx="7214616" cy="499871"/>
          </a:xfrm>
          <a:prstGeom prst="rect">
            <a:avLst/>
          </a:prstGeom>
        </p:spPr>
      </p:pic>
      <p:sp>
        <p:nvSpPr>
          <p:cNvPr id="41" name="TextBox 40"/>
          <p:cNvSpPr txBox="1"/>
          <p:nvPr/>
        </p:nvSpPr>
        <p:spPr>
          <a:xfrm>
            <a:off x="548640" y="5715000"/>
            <a:ext cx="9418320" cy="457200"/>
          </a:xfrm>
          <a:prstGeom prst="rect">
            <a:avLst/>
          </a:prstGeom>
          <a:noFill/>
        </p:spPr>
        <p:txBody>
          <a:bodyPr wrap="square">
            <a:spAutoFit/>
          </a:bodyPr>
          <a:lstStyle/>
          <a:p>
            <a:pPr algn="l">
              <a:spcAft>
                <a:spcPts val="600"/>
              </a:spcAft>
            </a:pPr>
            <a:r>
              <a:rPr sz="1900" b="1" i="0">
                <a:solidFill>
                  <a:srgbClr val="1F3A5F"/>
                </a:solidFill>
                <a:latin typeface="Calibri"/>
              </a:rPr>
              <a:t>Decompose  →  Forecast  →  Reconstruct  →  Quantify uncertainty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Multi-Step Forecasting</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14</a:t>
            </a:r>
          </a:p>
        </p:txBody>
      </p:sp>
      <p:graphicFrame>
        <p:nvGraphicFramePr>
          <p:cNvPr id="6" name="Table 5"/>
          <p:cNvGraphicFramePr>
            <a:graphicFrameLocks noGrp="1"/>
          </p:cNvGraphicFramePr>
          <p:nvPr/>
        </p:nvGraphicFramePr>
        <p:xfrm>
          <a:off x="548640" y="1371600"/>
          <a:ext cx="4206240" cy="23774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75488">
                <a:tc>
                  <a:txBody>
                    <a:bodyPr/>
                    <a:lstStyle/>
                    <a:p>
                      <a:pPr algn="l"/>
                      <a:r>
                        <a:rPr sz="1700" b="1" i="0">
                          <a:solidFill>
                            <a:srgbClr val="FFFFFF"/>
                          </a:solidFill>
                          <a:latin typeface="Calibri"/>
                        </a:rPr>
                        <a:t>Horizon</a:t>
                      </a:r>
                    </a:p>
                  </a:txBody>
                  <a:tcPr>
                    <a:solidFill>
                      <a:srgbClr val="1F3A5F"/>
                    </a:solidFill>
                  </a:tcPr>
                </a:tc>
                <a:tc>
                  <a:txBody>
                    <a:bodyPr/>
                    <a:lstStyle/>
                    <a:p>
                      <a:pPr algn="ctr"/>
                      <a:r>
                        <a:rPr sz="1700" b="1" i="0">
                          <a:solidFill>
                            <a:srgbClr val="FFFFFF"/>
                          </a:solidFill>
                          <a:latin typeface="Calibri"/>
                        </a:rPr>
                        <a:t>Hourly steps</a:t>
                      </a:r>
                    </a:p>
                  </a:txBody>
                  <a:tcPr>
                    <a:solidFill>
                      <a:srgbClr val="1F3A5F"/>
                    </a:solidFill>
                  </a:tcPr>
                </a:tc>
                <a:extLst>
                  <a:ext uri="{0D108BD9-81ED-4DB2-BD59-A6C34878D82A}">
                    <a16:rowId xmlns:a16="http://schemas.microsoft.com/office/drawing/2014/main" val="10000"/>
                  </a:ext>
                </a:extLst>
              </a:tr>
              <a:tr h="475488">
                <a:tc>
                  <a:txBody>
                    <a:bodyPr/>
                    <a:lstStyle/>
                    <a:p>
                      <a:pPr algn="l"/>
                      <a:r>
                        <a:rPr sz="1700" b="0" i="0">
                          <a:solidFill>
                            <a:srgbClr val="262626"/>
                          </a:solidFill>
                          <a:latin typeface="Calibri"/>
                        </a:rPr>
                        <a:t>1 day</a:t>
                      </a:r>
                    </a:p>
                  </a:txBody>
                  <a:tcPr>
                    <a:solidFill>
                      <a:srgbClr val="FFFFFF"/>
                    </a:solidFill>
                  </a:tcPr>
                </a:tc>
                <a:tc>
                  <a:txBody>
                    <a:bodyPr/>
                    <a:lstStyle/>
                    <a:p>
                      <a:pPr algn="ctr"/>
                      <a:r>
                        <a:rPr sz="1700" b="0" i="0">
                          <a:solidFill>
                            <a:srgbClr val="262626"/>
                          </a:solidFill>
                          <a:latin typeface="Calibri"/>
                        </a:rPr>
                        <a:t>24</a:t>
                      </a:r>
                    </a:p>
                  </a:txBody>
                  <a:tcPr>
                    <a:solidFill>
                      <a:srgbClr val="FFFFFF"/>
                    </a:solidFill>
                  </a:tcPr>
                </a:tc>
                <a:extLst>
                  <a:ext uri="{0D108BD9-81ED-4DB2-BD59-A6C34878D82A}">
                    <a16:rowId xmlns:a16="http://schemas.microsoft.com/office/drawing/2014/main" val="10001"/>
                  </a:ext>
                </a:extLst>
              </a:tr>
              <a:tr h="475488">
                <a:tc>
                  <a:txBody>
                    <a:bodyPr/>
                    <a:lstStyle/>
                    <a:p>
                      <a:pPr algn="l"/>
                      <a:r>
                        <a:rPr sz="1700" b="0" i="0">
                          <a:solidFill>
                            <a:srgbClr val="262626"/>
                          </a:solidFill>
                          <a:latin typeface="Calibri"/>
                        </a:rPr>
                        <a:t>7 days</a:t>
                      </a:r>
                    </a:p>
                  </a:txBody>
                  <a:tcPr>
                    <a:solidFill>
                      <a:srgbClr val="EEF1F5"/>
                    </a:solidFill>
                  </a:tcPr>
                </a:tc>
                <a:tc>
                  <a:txBody>
                    <a:bodyPr/>
                    <a:lstStyle/>
                    <a:p>
                      <a:pPr algn="ctr"/>
                      <a:r>
                        <a:rPr sz="1700" b="0" i="0">
                          <a:solidFill>
                            <a:srgbClr val="262626"/>
                          </a:solidFill>
                          <a:latin typeface="Calibri"/>
                        </a:rPr>
                        <a:t>168</a:t>
                      </a:r>
                    </a:p>
                  </a:txBody>
                  <a:tcPr>
                    <a:solidFill>
                      <a:srgbClr val="EEF1F5"/>
                    </a:solidFill>
                  </a:tcPr>
                </a:tc>
                <a:extLst>
                  <a:ext uri="{0D108BD9-81ED-4DB2-BD59-A6C34878D82A}">
                    <a16:rowId xmlns:a16="http://schemas.microsoft.com/office/drawing/2014/main" val="10002"/>
                  </a:ext>
                </a:extLst>
              </a:tr>
              <a:tr h="475488">
                <a:tc>
                  <a:txBody>
                    <a:bodyPr/>
                    <a:lstStyle/>
                    <a:p>
                      <a:pPr algn="l"/>
                      <a:r>
                        <a:rPr sz="1700" b="0" i="0">
                          <a:solidFill>
                            <a:srgbClr val="262626"/>
                          </a:solidFill>
                          <a:latin typeface="Calibri"/>
                        </a:rPr>
                        <a:t>14 days</a:t>
                      </a:r>
                    </a:p>
                  </a:txBody>
                  <a:tcPr>
                    <a:solidFill>
                      <a:srgbClr val="FFFFFF"/>
                    </a:solidFill>
                  </a:tcPr>
                </a:tc>
                <a:tc>
                  <a:txBody>
                    <a:bodyPr/>
                    <a:lstStyle/>
                    <a:p>
                      <a:pPr algn="ctr"/>
                      <a:r>
                        <a:rPr sz="1700" b="0" i="0">
                          <a:solidFill>
                            <a:srgbClr val="262626"/>
                          </a:solidFill>
                          <a:latin typeface="Calibri"/>
                        </a:rPr>
                        <a:t>336</a:t>
                      </a:r>
                    </a:p>
                  </a:txBody>
                  <a:tcPr>
                    <a:solidFill>
                      <a:srgbClr val="FFFFFF"/>
                    </a:solidFill>
                  </a:tcPr>
                </a:tc>
                <a:extLst>
                  <a:ext uri="{0D108BD9-81ED-4DB2-BD59-A6C34878D82A}">
                    <a16:rowId xmlns:a16="http://schemas.microsoft.com/office/drawing/2014/main" val="10003"/>
                  </a:ext>
                </a:extLst>
              </a:tr>
              <a:tr h="475488">
                <a:tc>
                  <a:txBody>
                    <a:bodyPr/>
                    <a:lstStyle/>
                    <a:p>
                      <a:pPr algn="l"/>
                      <a:r>
                        <a:rPr sz="1700" b="0" i="0">
                          <a:solidFill>
                            <a:srgbClr val="262626"/>
                          </a:solidFill>
                          <a:latin typeface="Calibri"/>
                        </a:rPr>
                        <a:t>31 days</a:t>
                      </a:r>
                    </a:p>
                  </a:txBody>
                  <a:tcPr>
                    <a:solidFill>
                      <a:srgbClr val="EEF1F5"/>
                    </a:solidFill>
                  </a:tcPr>
                </a:tc>
                <a:tc>
                  <a:txBody>
                    <a:bodyPr/>
                    <a:lstStyle/>
                    <a:p>
                      <a:pPr algn="ctr"/>
                      <a:r>
                        <a:rPr sz="1700" b="0" i="0">
                          <a:solidFill>
                            <a:srgbClr val="262626"/>
                          </a:solidFill>
                          <a:latin typeface="Calibri"/>
                        </a:rPr>
                        <a:t>744</a:t>
                      </a:r>
                    </a:p>
                  </a:txBody>
                  <a:tcPr>
                    <a:solidFill>
                      <a:srgbClr val="EEF1F5"/>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4023360"/>
            <a:ext cx="4206240" cy="457200"/>
          </a:xfrm>
          <a:prstGeom prst="rect">
            <a:avLst/>
          </a:prstGeom>
          <a:noFill/>
        </p:spPr>
        <p:txBody>
          <a:bodyPr wrap="square">
            <a:spAutoFit/>
          </a:bodyPr>
          <a:lstStyle/>
          <a:p>
            <a:pPr algn="l">
              <a:spcAft>
                <a:spcPts val="600"/>
              </a:spcAft>
            </a:pPr>
            <a:r>
              <a:rPr sz="1800" b="1" i="0">
                <a:solidFill>
                  <a:srgbClr val="1F3A5F"/>
                </a:solidFill>
                <a:latin typeface="Calibri"/>
              </a:rPr>
              <a:t>Recursive forecasting</a:t>
            </a:r>
          </a:p>
        </p:txBody>
      </p:sp>
      <p:pic>
        <p:nvPicPr>
          <p:cNvPr id="8" name="Picture 7" descr="eq_26.png"/>
          <p:cNvPicPr>
            <a:picLocks noChangeAspect="1"/>
          </p:cNvPicPr>
          <p:nvPr/>
        </p:nvPicPr>
        <p:blipFill>
          <a:blip r:embed="rId3"/>
          <a:stretch>
            <a:fillRect/>
          </a:stretch>
        </p:blipFill>
        <p:spPr>
          <a:xfrm>
            <a:off x="731520" y="4526280"/>
            <a:ext cx="3447288" cy="429768"/>
          </a:xfrm>
          <a:prstGeom prst="rect">
            <a:avLst/>
          </a:prstGeom>
        </p:spPr>
      </p:pic>
      <p:pic>
        <p:nvPicPr>
          <p:cNvPr id="9" name="Picture 8" descr="s14_time.png"/>
          <p:cNvPicPr>
            <a:picLocks noChangeAspect="1"/>
          </p:cNvPicPr>
          <p:nvPr/>
        </p:nvPicPr>
        <p:blipFill>
          <a:blip r:embed="rId4"/>
          <a:stretch>
            <a:fillRect/>
          </a:stretch>
        </p:blipFill>
        <p:spPr>
          <a:xfrm>
            <a:off x="5120640" y="1234440"/>
            <a:ext cx="6492240" cy="1762179"/>
          </a:xfrm>
          <a:prstGeom prst="rect">
            <a:avLst/>
          </a:prstGeom>
        </p:spPr>
      </p:pic>
      <p:sp>
        <p:nvSpPr>
          <p:cNvPr id="10" name="Rectangle 9"/>
          <p:cNvSpPr/>
          <p:nvPr/>
        </p:nvSpPr>
        <p:spPr>
          <a:xfrm>
            <a:off x="5303520" y="3474720"/>
            <a:ext cx="3017520" cy="18288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a:solidFill>
                  <a:srgbClr val="1F3A5F"/>
                </a:solidFill>
                <a:latin typeface="Calibri"/>
              </a:rPr>
              <a:t>Advantage</a:t>
            </a:r>
          </a:p>
          <a:p>
            <a:pPr algn="l">
              <a:spcBef>
                <a:spcPts val="400"/>
              </a:spcBef>
            </a:pPr>
            <a:r>
              <a:rPr sz="1600" b="0" i="0">
                <a:solidFill>
                  <a:srgbClr val="262626"/>
                </a:solidFill>
                <a:latin typeface="Calibri"/>
              </a:rPr>
              <a:t>Simple way to generate long horizons</a:t>
            </a:r>
          </a:p>
        </p:txBody>
      </p:sp>
      <p:sp>
        <p:nvSpPr>
          <p:cNvPr id="11" name="Rectangle 10"/>
          <p:cNvSpPr/>
          <p:nvPr/>
        </p:nvSpPr>
        <p:spPr>
          <a:xfrm>
            <a:off x="8595360" y="3474720"/>
            <a:ext cx="3017520" cy="18288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a:solidFill>
                  <a:srgbClr val="1F3A5F"/>
                </a:solidFill>
                <a:latin typeface="Calibri"/>
              </a:rPr>
              <a:t>Challenge</a:t>
            </a:r>
          </a:p>
          <a:p>
            <a:pPr algn="l">
              <a:spcBef>
                <a:spcPts val="400"/>
              </a:spcBef>
            </a:pPr>
            <a:r>
              <a:rPr sz="1600" b="0" i="0">
                <a:solidFill>
                  <a:srgbClr val="262626"/>
                </a:solidFill>
                <a:latin typeface="Calibri"/>
              </a:rPr>
              <a:t>Errors can propagate</a:t>
            </a:r>
          </a:p>
        </p:txBody>
      </p:sp>
      <p:pic>
        <p:nvPicPr>
          <p:cNvPr id="12" name="Picture 11" descr="eq_27.png"/>
          <p:cNvPicPr>
            <a:picLocks noChangeAspect="1"/>
          </p:cNvPicPr>
          <p:nvPr/>
        </p:nvPicPr>
        <p:blipFill>
          <a:blip r:embed="rId5"/>
          <a:stretch>
            <a:fillRect/>
          </a:stretch>
        </p:blipFill>
        <p:spPr>
          <a:xfrm>
            <a:off x="8732520" y="4434840"/>
            <a:ext cx="2398776" cy="2987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Conformal Prediction</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15</a:t>
            </a:r>
          </a:p>
        </p:txBody>
      </p:sp>
      <p:sp>
        <p:nvSpPr>
          <p:cNvPr id="6" name="TextBox 5"/>
          <p:cNvSpPr txBox="1"/>
          <p:nvPr/>
        </p:nvSpPr>
        <p:spPr>
          <a:xfrm>
            <a:off x="548640" y="1280160"/>
            <a:ext cx="6766560" cy="457200"/>
          </a:xfrm>
          <a:prstGeom prst="rect">
            <a:avLst/>
          </a:prstGeom>
          <a:noFill/>
        </p:spPr>
        <p:txBody>
          <a:bodyPr wrap="square">
            <a:spAutoFit/>
          </a:bodyPr>
          <a:lstStyle/>
          <a:p>
            <a:pPr algn="l">
              <a:spcAft>
                <a:spcPts val="600"/>
              </a:spcAft>
            </a:pPr>
            <a:r>
              <a:rPr sz="1900" b="1" i="0">
                <a:solidFill>
                  <a:srgbClr val="1F3A5F"/>
                </a:solidFill>
                <a:latin typeface="Calibri"/>
              </a:rPr>
              <a:t>How uncertain is this prediction?</a:t>
            </a:r>
          </a:p>
        </p:txBody>
      </p:sp>
      <p:pic>
        <p:nvPicPr>
          <p:cNvPr id="7" name="Picture 6" descr="eq_28.png"/>
          <p:cNvPicPr>
            <a:picLocks noChangeAspect="1"/>
          </p:cNvPicPr>
          <p:nvPr/>
        </p:nvPicPr>
        <p:blipFill>
          <a:blip r:embed="rId3"/>
          <a:stretch>
            <a:fillRect/>
          </a:stretch>
        </p:blipFill>
        <p:spPr>
          <a:xfrm>
            <a:off x="731520" y="1828800"/>
            <a:ext cx="4392168" cy="807720"/>
          </a:xfrm>
          <a:prstGeom prst="rect">
            <a:avLst/>
          </a:prstGeom>
        </p:spPr>
      </p:pic>
      <p:sp>
        <p:nvSpPr>
          <p:cNvPr id="8" name="TextBox 7"/>
          <p:cNvSpPr txBox="1"/>
          <p:nvPr/>
        </p:nvSpPr>
        <p:spPr>
          <a:xfrm>
            <a:off x="548640" y="3291840"/>
            <a:ext cx="6766560" cy="2194560"/>
          </a:xfrm>
          <a:prstGeom prst="rect">
            <a:avLst/>
          </a:prstGeom>
          <a:noFill/>
        </p:spPr>
        <p:txBody>
          <a:bodyPr wrap="square">
            <a:spAutoFit/>
          </a:bodyPr>
          <a:lstStyle/>
          <a:p>
            <a:pPr algn="l">
              <a:spcAft>
                <a:spcPts val="800"/>
              </a:spcAft>
            </a:pPr>
            <a:r>
              <a:rPr sz="1800" b="0" i="0">
                <a:solidFill>
                  <a:srgbClr val="262626"/>
                </a:solidFill>
                <a:latin typeface="Calibri"/>
              </a:rPr>
              <a:t>•  Numerator: the prediction error</a:t>
            </a:r>
          </a:p>
          <a:p>
            <a:pPr algn="l">
              <a:spcAft>
                <a:spcPts val="800"/>
              </a:spcAft>
            </a:pPr>
            <a:r>
              <a:rPr sz="1800" b="0" i="0">
                <a:solidFill>
                  <a:srgbClr val="262626"/>
                </a:solidFill>
                <a:latin typeface="Calibri"/>
              </a:rPr>
              <a:t>•  Denominator: the estimated uncertainty scale</a:t>
            </a:r>
          </a:p>
          <a:p>
            <a:pPr algn="l">
              <a:spcAft>
                <a:spcPts val="800"/>
              </a:spcAft>
            </a:pPr>
            <a:r>
              <a:rPr sz="1800" b="0" i="0">
                <a:solidFill>
                  <a:srgbClr val="262626"/>
                </a:solidFill>
                <a:latin typeface="Calibri"/>
              </a:rPr>
              <a:t>•  So CS_t is a normalised prediction-error score</a:t>
            </a:r>
          </a:p>
          <a:p>
            <a:pPr algn="l">
              <a:spcAft>
                <a:spcPts val="800"/>
              </a:spcAft>
            </a:pPr>
            <a:r>
              <a:rPr sz="1800" b="0" i="0">
                <a:solidFill>
                  <a:srgbClr val="262626"/>
                </a:solidFill>
                <a:latin typeface="Calibri"/>
              </a:rPr>
              <a:t>•  No parametric distribution needs to be assumed:</a:t>
            </a:r>
          </a:p>
        </p:txBody>
      </p:sp>
      <p:pic>
        <p:nvPicPr>
          <p:cNvPr id="9" name="Picture 8" descr="eq_29.png"/>
          <p:cNvPicPr>
            <a:picLocks noChangeAspect="1"/>
          </p:cNvPicPr>
          <p:nvPr/>
        </p:nvPicPr>
        <p:blipFill>
          <a:blip r:embed="rId4"/>
          <a:stretch>
            <a:fillRect/>
          </a:stretch>
        </p:blipFill>
        <p:spPr>
          <a:xfrm>
            <a:off x="914400" y="5257800"/>
            <a:ext cx="3288792" cy="371856"/>
          </a:xfrm>
          <a:prstGeom prst="rect">
            <a:avLst/>
          </a:prstGeom>
        </p:spPr>
      </p:pic>
      <p:sp>
        <p:nvSpPr>
          <p:cNvPr id="10" name="Rectangle 9"/>
          <p:cNvSpPr/>
          <p:nvPr/>
        </p:nvSpPr>
        <p:spPr>
          <a:xfrm>
            <a:off x="8046720" y="1371600"/>
            <a:ext cx="3291840" cy="566928"/>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1F3A5F"/>
                </a:solidFill>
                <a:latin typeface="Calibri"/>
              </a:rPr>
              <a:t>Past predictions</a:t>
            </a:r>
          </a:p>
        </p:txBody>
      </p:sp>
      <p:cxnSp>
        <p:nvCxnSpPr>
          <p:cNvPr id="11" name="Connector 10"/>
          <p:cNvCxnSpPr/>
          <p:nvPr/>
        </p:nvCxnSpPr>
        <p:spPr>
          <a:xfrm>
            <a:off x="9692640" y="1938528"/>
            <a:ext cx="0" cy="374904"/>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8046720" y="2313432"/>
            <a:ext cx="3291840" cy="566928"/>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1F3A5F"/>
                </a:solidFill>
                <a:latin typeface="Calibri"/>
              </a:rPr>
              <a:t>Past errors</a:t>
            </a:r>
          </a:p>
        </p:txBody>
      </p:sp>
      <p:cxnSp>
        <p:nvCxnSpPr>
          <p:cNvPr id="13" name="Connector 12"/>
          <p:cNvCxnSpPr/>
          <p:nvPr/>
        </p:nvCxnSpPr>
        <p:spPr>
          <a:xfrm>
            <a:off x="9692640" y="2880360"/>
            <a:ext cx="0" cy="374904"/>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046720" y="3255264"/>
            <a:ext cx="3291840" cy="566928"/>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1F3A5F"/>
                </a:solidFill>
                <a:latin typeface="Calibri"/>
              </a:rPr>
              <a:t>Conformal scores</a:t>
            </a:r>
          </a:p>
        </p:txBody>
      </p:sp>
      <p:cxnSp>
        <p:nvCxnSpPr>
          <p:cNvPr id="15" name="Connector 14"/>
          <p:cNvCxnSpPr/>
          <p:nvPr/>
        </p:nvCxnSpPr>
        <p:spPr>
          <a:xfrm>
            <a:off x="9692640" y="3822191"/>
            <a:ext cx="0" cy="374905"/>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8046720" y="4197096"/>
            <a:ext cx="3291840" cy="566928"/>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1F3A5F"/>
                </a:solidFill>
                <a:latin typeface="Calibri"/>
              </a:rPr>
              <a:t>Current uncertainty</a:t>
            </a:r>
          </a:p>
        </p:txBody>
      </p:sp>
      <p:cxnSp>
        <p:nvCxnSpPr>
          <p:cNvPr id="17" name="Connector 16"/>
          <p:cNvCxnSpPr/>
          <p:nvPr/>
        </p:nvCxnSpPr>
        <p:spPr>
          <a:xfrm>
            <a:off x="9692640" y="4764024"/>
            <a:ext cx="0" cy="374904"/>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8046720" y="5138928"/>
            <a:ext cx="3291840" cy="566928"/>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i="0">
                <a:solidFill>
                  <a:srgbClr val="FFFFFF"/>
                </a:solidFill>
                <a:latin typeface="Calibri"/>
              </a:rPr>
              <a:t>Prediction interval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Prediction Interval</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16</a:t>
            </a:r>
          </a:p>
        </p:txBody>
      </p:sp>
      <p:sp>
        <p:nvSpPr>
          <p:cNvPr id="6" name="TextBox 5"/>
          <p:cNvSpPr txBox="1"/>
          <p:nvPr/>
        </p:nvSpPr>
        <p:spPr>
          <a:xfrm>
            <a:off x="548640" y="1280160"/>
            <a:ext cx="5120640" cy="822960"/>
          </a:xfrm>
          <a:prstGeom prst="rect">
            <a:avLst/>
          </a:prstGeom>
          <a:noFill/>
        </p:spPr>
        <p:txBody>
          <a:bodyPr wrap="square">
            <a:spAutoFit/>
          </a:bodyPr>
          <a:lstStyle/>
          <a:p>
            <a:pPr algn="l">
              <a:spcAft>
                <a:spcPts val="600"/>
              </a:spcAft>
            </a:pPr>
            <a:r>
              <a:rPr sz="1700" b="1" i="0">
                <a:solidFill>
                  <a:srgbClr val="1F3A5F"/>
                </a:solidFill>
                <a:latin typeface="Calibri"/>
              </a:rPr>
              <a:t>Conformal quantile CQ_t from a recent window of length κ</a:t>
            </a:r>
          </a:p>
        </p:txBody>
      </p:sp>
      <p:pic>
        <p:nvPicPr>
          <p:cNvPr id="7" name="Picture 6" descr="eq_30.png"/>
          <p:cNvPicPr>
            <a:picLocks noChangeAspect="1"/>
          </p:cNvPicPr>
          <p:nvPr/>
        </p:nvPicPr>
        <p:blipFill>
          <a:blip r:embed="rId3"/>
          <a:stretch>
            <a:fillRect/>
          </a:stretch>
        </p:blipFill>
        <p:spPr>
          <a:xfrm>
            <a:off x="731520" y="2103120"/>
            <a:ext cx="2892552" cy="548640"/>
          </a:xfrm>
          <a:prstGeom prst="rect">
            <a:avLst/>
          </a:prstGeom>
        </p:spPr>
      </p:pic>
      <p:pic>
        <p:nvPicPr>
          <p:cNvPr id="8" name="Picture 7" descr="eq_31.png"/>
          <p:cNvPicPr>
            <a:picLocks noChangeAspect="1"/>
          </p:cNvPicPr>
          <p:nvPr/>
        </p:nvPicPr>
        <p:blipFill>
          <a:blip r:embed="rId4"/>
          <a:stretch>
            <a:fillRect/>
          </a:stretch>
        </p:blipFill>
        <p:spPr>
          <a:xfrm>
            <a:off x="731520" y="3108960"/>
            <a:ext cx="2228088" cy="417576"/>
          </a:xfrm>
          <a:prstGeom prst="rect">
            <a:avLst/>
          </a:prstGeom>
        </p:spPr>
      </p:pic>
      <p:pic>
        <p:nvPicPr>
          <p:cNvPr id="9" name="Picture 8" descr="eq_32.png"/>
          <p:cNvPicPr>
            <a:picLocks noChangeAspect="1"/>
          </p:cNvPicPr>
          <p:nvPr/>
        </p:nvPicPr>
        <p:blipFill>
          <a:blip r:embed="rId5"/>
          <a:stretch>
            <a:fillRect/>
          </a:stretch>
        </p:blipFill>
        <p:spPr>
          <a:xfrm>
            <a:off x="731520" y="3749039"/>
            <a:ext cx="2231136" cy="417576"/>
          </a:xfrm>
          <a:prstGeom prst="rect">
            <a:avLst/>
          </a:prstGeom>
        </p:spPr>
      </p:pic>
      <p:pic>
        <p:nvPicPr>
          <p:cNvPr id="10" name="Picture 9" descr="eq_33.png"/>
          <p:cNvPicPr>
            <a:picLocks noChangeAspect="1"/>
          </p:cNvPicPr>
          <p:nvPr/>
        </p:nvPicPr>
        <p:blipFill>
          <a:blip r:embed="rId6"/>
          <a:stretch>
            <a:fillRect/>
          </a:stretch>
        </p:blipFill>
        <p:spPr>
          <a:xfrm>
            <a:off x="731520" y="4572000"/>
            <a:ext cx="4096512" cy="316992"/>
          </a:xfrm>
          <a:prstGeom prst="rect">
            <a:avLst/>
          </a:prstGeom>
        </p:spPr>
      </p:pic>
      <p:pic>
        <p:nvPicPr>
          <p:cNvPr id="11" name="Picture 10" descr="conformal.png"/>
          <p:cNvPicPr>
            <a:picLocks noChangeAspect="1"/>
          </p:cNvPicPr>
          <p:nvPr/>
        </p:nvPicPr>
        <p:blipFill>
          <a:blip r:embed="rId7"/>
          <a:stretch>
            <a:fillRect/>
          </a:stretch>
        </p:blipFill>
        <p:spPr>
          <a:xfrm>
            <a:off x="5852160" y="1371600"/>
            <a:ext cx="5760720" cy="2253458"/>
          </a:xfrm>
          <a:prstGeom prst="rect">
            <a:avLst/>
          </a:prstGeom>
        </p:spPr>
      </p:pic>
      <p:sp>
        <p:nvSpPr>
          <p:cNvPr id="12" name="TextBox 11"/>
          <p:cNvSpPr txBox="1"/>
          <p:nvPr/>
        </p:nvSpPr>
        <p:spPr>
          <a:xfrm>
            <a:off x="5852160" y="3794760"/>
            <a:ext cx="5760720" cy="1463040"/>
          </a:xfrm>
          <a:prstGeom prst="rect">
            <a:avLst/>
          </a:prstGeom>
          <a:noFill/>
        </p:spPr>
        <p:txBody>
          <a:bodyPr wrap="square">
            <a:spAutoFit/>
          </a:bodyPr>
          <a:lstStyle/>
          <a:p>
            <a:pPr algn="l">
              <a:spcAft>
                <a:spcPts val="400"/>
              </a:spcAft>
            </a:pPr>
            <a:r>
              <a:rPr sz="1500" b="0" i="0">
                <a:solidFill>
                  <a:srgbClr val="262626"/>
                </a:solidFill>
                <a:latin typeface="Calibri"/>
              </a:rPr>
              <a:t>Blue: actual PM2.5     Orange: WaveCatBoost prediction</a:t>
            </a:r>
          </a:p>
          <a:p>
            <a:pPr algn="l">
              <a:spcAft>
                <a:spcPts val="400"/>
              </a:spcAft>
            </a:pPr>
            <a:r>
              <a:rPr sz="1500" b="0" i="0">
                <a:solidFill>
                  <a:srgbClr val="262626"/>
                </a:solidFill>
                <a:latin typeface="Calibri"/>
              </a:rPr>
              <a:t>Shaded band: lower and upper prediction boundaries</a:t>
            </a:r>
          </a:p>
          <a:p>
            <a:pPr algn="l">
              <a:spcAft>
                <a:spcPts val="400"/>
              </a:spcAft>
            </a:pPr>
            <a:r>
              <a:rPr sz="1500" b="0" i="0">
                <a:solidFill>
                  <a:srgbClr val="6B6B6B"/>
                </a:solidFill>
                <a:latin typeface="Calibri"/>
              </a:rPr>
              <a:t>7-day horizon, (a) CPCB, (b) ID1. Figure 2 of the paper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Worked Example: Forecasting Next-Hour PM2.5</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17</a:t>
            </a:r>
          </a:p>
        </p:txBody>
      </p:sp>
      <p:sp>
        <p:nvSpPr>
          <p:cNvPr id="6" name="TextBox 5"/>
          <p:cNvSpPr txBox="1"/>
          <p:nvPr/>
        </p:nvSpPr>
        <p:spPr>
          <a:xfrm>
            <a:off x="548640" y="1033271"/>
            <a:ext cx="11064240" cy="365760"/>
          </a:xfrm>
          <a:prstGeom prst="rect">
            <a:avLst/>
          </a:prstGeom>
          <a:noFill/>
        </p:spPr>
        <p:txBody>
          <a:bodyPr wrap="square" anchor="t" lIns="45720" rIns="45720" tIns="18288" bIns="18288">
            <a:spAutoFit/>
          </a:bodyPr>
          <a:lstStyle/>
          <a:p>
            <a:pPr algn="l">
              <a:spcAft>
                <a:spcPts val="200"/>
              </a:spcAft>
            </a:pPr>
            <a:r>
              <a:rPr sz="1500" b="1" i="0">
                <a:solidFill>
                  <a:srgbClr val="1F3A5F"/>
                </a:solidFill>
                <a:latin typeface="Calibri"/>
              </a:rPr>
              <a:t>Task: </a:t>
            </a:r>
            <a:r>
              <a:rPr sz="1500" b="0" i="0">
                <a:solidFill>
                  <a:srgbClr val="262626"/>
                </a:solidFill>
                <a:latin typeface="Calibri"/>
              </a:rPr>
              <a:t>a CPCB sensor reports PM2.5 every 15 minutes. Forecast hour 9 and give a 95% range.</a:t>
            </a:r>
          </a:p>
        </p:txBody>
      </p:sp>
      <p:sp>
        <p:nvSpPr>
          <p:cNvPr id="7" name="Rounded Rectangle 6"/>
          <p:cNvSpPr/>
          <p:nvPr/>
        </p:nvSpPr>
        <p:spPr>
          <a:xfrm>
            <a:off x="548640" y="1444752"/>
            <a:ext cx="6172200" cy="749808"/>
          </a:xfrm>
          <a:prstGeom prst="roundRect">
            <a:avLst>
              <a:gd name="adj" fmla="val 6000"/>
            </a:avLst>
          </a:prstGeom>
          <a:solidFill>
            <a:srgbClr val="EEF1F5"/>
          </a:solidFill>
          <a:ln w="9525">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a:lstStyle/>
          <a:p>
            <a:pPr algn="l">
              <a:spcAft>
                <a:spcPts val="300"/>
              </a:spcAft>
            </a:pPr>
            <a:r>
              <a:rPr sz="1500" b="1" i="0">
                <a:solidFill>
                  <a:srgbClr val="1F3A5F"/>
                </a:solidFill>
                <a:latin typeface="Calibri"/>
              </a:rPr>
              <a:t>①  Preprocess</a:t>
            </a:r>
          </a:p>
          <a:p>
            <a:pPr algn="l">
              <a:spcAft>
                <a:spcPts val="200"/>
              </a:spcAft>
            </a:pPr>
            <a:r>
              <a:rPr sz="1350" b="0" i="0">
                <a:solidFill>
                  <a:srgbClr val="262626"/>
                </a:solidFill>
                <a:latin typeface="Calibri"/>
              </a:rPr>
              <a:t>Hour 8 readings  27, 26, 25, 26  →  hourly mean </a:t>
            </a:r>
            <a:r>
              <a:rPr sz="1350" b="1" i="0">
                <a:solidFill>
                  <a:srgbClr val="262626"/>
                </a:solidFill>
                <a:latin typeface="Calibri"/>
              </a:rPr>
              <a:t>26 µg/m³</a:t>
            </a:r>
            <a:r>
              <a:rPr sz="1350" b="0" i="1">
                <a:solidFill>
                  <a:srgbClr val="262626"/>
                </a:solidFill>
                <a:latin typeface="Calibri"/>
              </a:rPr>
              <a:t>   (then min-max scaled)</a:t>
            </a:r>
          </a:p>
        </p:txBody>
      </p:sp>
      <p:sp>
        <p:nvSpPr>
          <p:cNvPr id="8" name="TextBox 7"/>
          <p:cNvSpPr txBox="1"/>
          <p:nvPr/>
        </p:nvSpPr>
        <p:spPr>
          <a:xfrm>
            <a:off x="548640" y="2286000"/>
            <a:ext cx="6172200" cy="329184"/>
          </a:xfrm>
          <a:prstGeom prst="rect">
            <a:avLst/>
          </a:prstGeom>
          <a:noFill/>
        </p:spPr>
        <p:txBody>
          <a:bodyPr wrap="square" anchor="t" lIns="45720" rIns="45720" tIns="18288" bIns="18288">
            <a:spAutoFit/>
          </a:bodyPr>
          <a:lstStyle/>
          <a:p>
            <a:pPr algn="l">
              <a:spcAft>
                <a:spcPts val="200"/>
              </a:spcAft>
            </a:pPr>
            <a:r>
              <a:rPr sz="1500" b="1" i="0">
                <a:solidFill>
                  <a:srgbClr val="1F3A5F"/>
                </a:solidFill>
                <a:latin typeface="Calibri"/>
              </a:rPr>
              <a:t>②  Decompose the last 8 hours with Haar MODWT (K = 2)</a:t>
            </a:r>
          </a:p>
        </p:txBody>
      </p:sp>
      <p:graphicFrame>
        <p:nvGraphicFramePr>
          <p:cNvPr id="9" name="Table 8"/>
          <p:cNvGraphicFramePr>
            <a:graphicFrameLocks noGrp="1"/>
          </p:cNvGraphicFramePr>
          <p:nvPr/>
        </p:nvGraphicFramePr>
        <p:xfrm>
          <a:off x="548640" y="2633472"/>
          <a:ext cx="6172200" cy="1463040"/>
        </p:xfrm>
        <a:graphic>
          <a:graphicData uri="http://schemas.openxmlformats.org/drawingml/2006/table">
            <a:tbl>
              <a:tblPr firstRow="0" bandRow="0">
                <a:tableStyleId>{5C22544A-7EE6-4342-B048-85BDC9FD1C3A}</a:tableStyleId>
              </a:tblPr>
              <a:tblGrid>
                <a:gridCol w="1051560"/>
                <a:gridCol w="640080"/>
                <a:gridCol w="640080"/>
                <a:gridCol w="640080"/>
                <a:gridCol w="640080"/>
                <a:gridCol w="640080"/>
                <a:gridCol w="640080"/>
                <a:gridCol w="640080"/>
                <a:gridCol w="640080"/>
              </a:tblGrid>
              <a:tr h="292608">
                <a:tc>
                  <a:txBody>
                    <a:bodyPr/>
                    <a:lstStyle/>
                    <a:p>
                      <a:pPr algn="l"/>
                      <a:r>
                        <a:rPr sz="1250" b="1" i="0">
                          <a:solidFill>
                            <a:srgbClr val="FFFFFF"/>
                          </a:solidFill>
                          <a:latin typeface="Calibri"/>
                        </a:rPr>
                        <a:t>Hour</a:t>
                      </a:r>
                    </a:p>
                  </a:txBody>
                  <a:tcPr marL="27432" marR="27432" marT="9144" marB="9144" anchor="ctr">
                    <a:solidFill>
                      <a:srgbClr val="1F3A5F"/>
                    </a:solidFill>
                  </a:tcPr>
                </a:tc>
                <a:tc>
                  <a:txBody>
                    <a:bodyPr/>
                    <a:lstStyle/>
                    <a:p>
                      <a:pPr algn="ctr"/>
                      <a:r>
                        <a:rPr sz="1250" b="1" i="0">
                          <a:solidFill>
                            <a:srgbClr val="FFFFFF"/>
                          </a:solidFill>
                          <a:latin typeface="Calibri"/>
                        </a:rPr>
                        <a:t>1</a:t>
                      </a:r>
                    </a:p>
                  </a:txBody>
                  <a:tcPr marL="27432" marR="27432" marT="9144" marB="9144" anchor="ctr">
                    <a:solidFill>
                      <a:srgbClr val="1F3A5F"/>
                    </a:solidFill>
                  </a:tcPr>
                </a:tc>
                <a:tc>
                  <a:txBody>
                    <a:bodyPr/>
                    <a:lstStyle/>
                    <a:p>
                      <a:pPr algn="ctr"/>
                      <a:r>
                        <a:rPr sz="1250" b="1" i="0">
                          <a:solidFill>
                            <a:srgbClr val="FFFFFF"/>
                          </a:solidFill>
                          <a:latin typeface="Calibri"/>
                        </a:rPr>
                        <a:t>2</a:t>
                      </a:r>
                    </a:p>
                  </a:txBody>
                  <a:tcPr marL="27432" marR="27432" marT="9144" marB="9144" anchor="ctr">
                    <a:solidFill>
                      <a:srgbClr val="1F3A5F"/>
                    </a:solidFill>
                  </a:tcPr>
                </a:tc>
                <a:tc>
                  <a:txBody>
                    <a:bodyPr/>
                    <a:lstStyle/>
                    <a:p>
                      <a:pPr algn="ctr"/>
                      <a:r>
                        <a:rPr sz="1250" b="1" i="0">
                          <a:solidFill>
                            <a:srgbClr val="FFFFFF"/>
                          </a:solidFill>
                          <a:latin typeface="Calibri"/>
                        </a:rPr>
                        <a:t>3</a:t>
                      </a:r>
                    </a:p>
                  </a:txBody>
                  <a:tcPr marL="27432" marR="27432" marT="9144" marB="9144" anchor="ctr">
                    <a:solidFill>
                      <a:srgbClr val="1F3A5F"/>
                    </a:solidFill>
                  </a:tcPr>
                </a:tc>
                <a:tc>
                  <a:txBody>
                    <a:bodyPr/>
                    <a:lstStyle/>
                    <a:p>
                      <a:pPr algn="ctr"/>
                      <a:r>
                        <a:rPr sz="1250" b="1" i="0">
                          <a:solidFill>
                            <a:srgbClr val="FFFFFF"/>
                          </a:solidFill>
                          <a:latin typeface="Calibri"/>
                        </a:rPr>
                        <a:t>4</a:t>
                      </a:r>
                    </a:p>
                  </a:txBody>
                  <a:tcPr marL="27432" marR="27432" marT="9144" marB="9144" anchor="ctr">
                    <a:solidFill>
                      <a:srgbClr val="1F3A5F"/>
                    </a:solidFill>
                  </a:tcPr>
                </a:tc>
                <a:tc>
                  <a:txBody>
                    <a:bodyPr/>
                    <a:lstStyle/>
                    <a:p>
                      <a:pPr algn="ctr"/>
                      <a:r>
                        <a:rPr sz="1250" b="1" i="0">
                          <a:solidFill>
                            <a:srgbClr val="FFFFFF"/>
                          </a:solidFill>
                          <a:latin typeface="Calibri"/>
                        </a:rPr>
                        <a:t>5</a:t>
                      </a:r>
                    </a:p>
                  </a:txBody>
                  <a:tcPr marL="27432" marR="27432" marT="9144" marB="9144" anchor="ctr">
                    <a:solidFill>
                      <a:srgbClr val="1F3A5F"/>
                    </a:solidFill>
                  </a:tcPr>
                </a:tc>
                <a:tc>
                  <a:txBody>
                    <a:bodyPr/>
                    <a:lstStyle/>
                    <a:p>
                      <a:pPr algn="ctr"/>
                      <a:r>
                        <a:rPr sz="1250" b="1" i="0">
                          <a:solidFill>
                            <a:srgbClr val="FFFFFF"/>
                          </a:solidFill>
                          <a:latin typeface="Calibri"/>
                        </a:rPr>
                        <a:t>6</a:t>
                      </a:r>
                    </a:p>
                  </a:txBody>
                  <a:tcPr marL="27432" marR="27432" marT="9144" marB="9144" anchor="ctr">
                    <a:solidFill>
                      <a:srgbClr val="1F3A5F"/>
                    </a:solidFill>
                  </a:tcPr>
                </a:tc>
                <a:tc>
                  <a:txBody>
                    <a:bodyPr/>
                    <a:lstStyle/>
                    <a:p>
                      <a:pPr algn="ctr"/>
                      <a:r>
                        <a:rPr sz="1250" b="1" i="0">
                          <a:solidFill>
                            <a:srgbClr val="FFFFFF"/>
                          </a:solidFill>
                          <a:latin typeface="Calibri"/>
                        </a:rPr>
                        <a:t>7</a:t>
                      </a:r>
                    </a:p>
                  </a:txBody>
                  <a:tcPr marL="27432" marR="27432" marT="9144" marB="9144" anchor="ctr">
                    <a:solidFill>
                      <a:srgbClr val="1F3A5F"/>
                    </a:solidFill>
                  </a:tcPr>
                </a:tc>
                <a:tc>
                  <a:txBody>
                    <a:bodyPr/>
                    <a:lstStyle/>
                    <a:p>
                      <a:pPr algn="ctr"/>
                      <a:r>
                        <a:rPr sz="1250" b="1" i="0">
                          <a:solidFill>
                            <a:srgbClr val="FFFFFF"/>
                          </a:solidFill>
                          <a:latin typeface="Calibri"/>
                        </a:rPr>
                        <a:t>8</a:t>
                      </a:r>
                    </a:p>
                  </a:txBody>
                  <a:tcPr marL="27432" marR="27432" marT="9144" marB="9144" anchor="ctr">
                    <a:solidFill>
                      <a:srgbClr val="1F3A5F"/>
                    </a:solidFill>
                  </a:tcPr>
                </a:tc>
              </a:tr>
              <a:tr h="292608">
                <a:tc>
                  <a:txBody>
                    <a:bodyPr/>
                    <a:lstStyle/>
                    <a:p>
                      <a:pPr algn="l"/>
                      <a:r>
                        <a:rPr sz="1250" b="1" i="0">
                          <a:solidFill>
                            <a:srgbClr val="1F3A5F"/>
                          </a:solidFill>
                          <a:latin typeface="Calibri"/>
                        </a:rPr>
                        <a:t>Y (observed)</a:t>
                      </a:r>
                    </a:p>
                  </a:txBody>
                  <a:tcPr marL="27432" marR="27432" marT="9144" marB="9144" anchor="ctr">
                    <a:solidFill>
                      <a:srgbClr val="DDE4EC"/>
                    </a:solidFill>
                  </a:tcPr>
                </a:tc>
                <a:tc>
                  <a:txBody>
                    <a:bodyPr/>
                    <a:lstStyle/>
                    <a:p>
                      <a:pPr algn="ctr"/>
                      <a:r>
                        <a:rPr sz="1250" b="1" i="0">
                          <a:solidFill>
                            <a:srgbClr val="262626"/>
                          </a:solidFill>
                          <a:latin typeface="Calibri"/>
                        </a:rPr>
                        <a:t>20</a:t>
                      </a:r>
                    </a:p>
                  </a:txBody>
                  <a:tcPr marL="27432" marR="27432" marT="9144" marB="9144" anchor="ctr">
                    <a:solidFill>
                      <a:srgbClr val="FFFFFF"/>
                    </a:solidFill>
                  </a:tcPr>
                </a:tc>
                <a:tc>
                  <a:txBody>
                    <a:bodyPr/>
                    <a:lstStyle/>
                    <a:p>
                      <a:pPr algn="ctr"/>
                      <a:r>
                        <a:rPr sz="1250" b="1" i="0">
                          <a:solidFill>
                            <a:srgbClr val="262626"/>
                          </a:solidFill>
                          <a:latin typeface="Calibri"/>
                        </a:rPr>
                        <a:t>22</a:t>
                      </a:r>
                    </a:p>
                  </a:txBody>
                  <a:tcPr marL="27432" marR="27432" marT="9144" marB="9144" anchor="ctr">
                    <a:solidFill>
                      <a:srgbClr val="FFFFFF"/>
                    </a:solidFill>
                  </a:tcPr>
                </a:tc>
                <a:tc>
                  <a:txBody>
                    <a:bodyPr/>
                    <a:lstStyle/>
                    <a:p>
                      <a:pPr algn="ctr"/>
                      <a:r>
                        <a:rPr sz="1250" b="1" i="0">
                          <a:solidFill>
                            <a:srgbClr val="262626"/>
                          </a:solidFill>
                          <a:latin typeface="Calibri"/>
                        </a:rPr>
                        <a:t>25</a:t>
                      </a:r>
                    </a:p>
                  </a:txBody>
                  <a:tcPr marL="27432" marR="27432" marT="9144" marB="9144" anchor="ctr">
                    <a:solidFill>
                      <a:srgbClr val="FFFFFF"/>
                    </a:solidFill>
                  </a:tcPr>
                </a:tc>
                <a:tc>
                  <a:txBody>
                    <a:bodyPr/>
                    <a:lstStyle/>
                    <a:p>
                      <a:pPr algn="ctr"/>
                      <a:r>
                        <a:rPr sz="1250" b="1" i="0">
                          <a:solidFill>
                            <a:srgbClr val="262626"/>
                          </a:solidFill>
                          <a:latin typeface="Calibri"/>
                        </a:rPr>
                        <a:t>24</a:t>
                      </a:r>
                    </a:p>
                  </a:txBody>
                  <a:tcPr marL="27432" marR="27432" marT="9144" marB="9144" anchor="ctr">
                    <a:solidFill>
                      <a:srgbClr val="FFFFFF"/>
                    </a:solidFill>
                  </a:tcPr>
                </a:tc>
                <a:tc>
                  <a:txBody>
                    <a:bodyPr/>
                    <a:lstStyle/>
                    <a:p>
                      <a:pPr algn="ctr"/>
                      <a:r>
                        <a:rPr sz="1250" b="1" i="0">
                          <a:solidFill>
                            <a:srgbClr val="262626"/>
                          </a:solidFill>
                          <a:latin typeface="Calibri"/>
                        </a:rPr>
                        <a:t>28</a:t>
                      </a:r>
                    </a:p>
                  </a:txBody>
                  <a:tcPr marL="27432" marR="27432" marT="9144" marB="9144" anchor="ctr">
                    <a:solidFill>
                      <a:srgbClr val="FFFFFF"/>
                    </a:solidFill>
                  </a:tcPr>
                </a:tc>
                <a:tc>
                  <a:txBody>
                    <a:bodyPr/>
                    <a:lstStyle/>
                    <a:p>
                      <a:pPr algn="ctr"/>
                      <a:r>
                        <a:rPr sz="1250" b="1" i="0">
                          <a:solidFill>
                            <a:srgbClr val="262626"/>
                          </a:solidFill>
                          <a:latin typeface="Calibri"/>
                        </a:rPr>
                        <a:t>30</a:t>
                      </a:r>
                    </a:p>
                  </a:txBody>
                  <a:tcPr marL="27432" marR="27432" marT="9144" marB="9144" anchor="ctr">
                    <a:solidFill>
                      <a:srgbClr val="FFFFFF"/>
                    </a:solidFill>
                  </a:tcPr>
                </a:tc>
                <a:tc>
                  <a:txBody>
                    <a:bodyPr/>
                    <a:lstStyle/>
                    <a:p>
                      <a:pPr algn="ctr"/>
                      <a:r>
                        <a:rPr sz="1250" b="1" i="0">
                          <a:solidFill>
                            <a:srgbClr val="262626"/>
                          </a:solidFill>
                          <a:latin typeface="Calibri"/>
                        </a:rPr>
                        <a:t>27</a:t>
                      </a:r>
                    </a:p>
                  </a:txBody>
                  <a:tcPr marL="27432" marR="27432" marT="9144" marB="9144" anchor="ctr">
                    <a:solidFill>
                      <a:srgbClr val="FFFFFF"/>
                    </a:solidFill>
                  </a:tcPr>
                </a:tc>
                <a:tc>
                  <a:txBody>
                    <a:bodyPr/>
                    <a:lstStyle/>
                    <a:p>
                      <a:pPr algn="ctr"/>
                      <a:r>
                        <a:rPr sz="1250" b="1" i="0">
                          <a:solidFill>
                            <a:srgbClr val="262626"/>
                          </a:solidFill>
                          <a:latin typeface="Calibri"/>
                        </a:rPr>
                        <a:t>26</a:t>
                      </a:r>
                    </a:p>
                  </a:txBody>
                  <a:tcPr marL="27432" marR="27432" marT="9144" marB="9144" anchor="ctr">
                    <a:solidFill>
                      <a:srgbClr val="FFFFFF"/>
                    </a:solidFill>
                  </a:tcPr>
                </a:tc>
              </a:tr>
              <a:tr h="292608">
                <a:tc>
                  <a:txBody>
                    <a:bodyPr/>
                    <a:lstStyle/>
                    <a:p>
                      <a:pPr algn="l"/>
                      <a:r>
                        <a:rPr sz="1250" b="1" i="0">
                          <a:solidFill>
                            <a:srgbClr val="1F3A5F"/>
                          </a:solidFill>
                          <a:latin typeface="Calibri"/>
                        </a:rPr>
                        <a:t>D</a:t>
                      </a:r>
                      <a:r>
                        <a:rPr sz="1250" b="1" i="0" baseline="-25000">
                          <a:solidFill>
                            <a:srgbClr val="1F3A5F"/>
                          </a:solidFill>
                          <a:latin typeface="Calibri"/>
                        </a:rPr>
                        <a:t>1</a:t>
                      </a:r>
                      <a:r>
                        <a:rPr sz="1250" b="0" i="1">
                          <a:solidFill>
                            <a:srgbClr val="1F3A5F"/>
                          </a:solidFill>
                          <a:latin typeface="Calibri"/>
                        </a:rPr>
                        <a:t>  fast</a:t>
                      </a:r>
                    </a:p>
                  </a:txBody>
                  <a:tcPr marL="27432" marR="27432" marT="9144" marB="9144" anchor="ctr">
                    <a:solidFill>
                      <a:srgbClr val="DDE4EC"/>
                    </a:solidFill>
                  </a:tcPr>
                </a:tc>
                <a:tc>
                  <a:txBody>
                    <a:bodyPr/>
                    <a:lstStyle/>
                    <a:p>
                      <a:pPr algn="ctr"/>
                      <a:r>
                        <a:rPr sz="1250" b="0" i="0">
                          <a:solidFill>
                            <a:srgbClr val="262626"/>
                          </a:solidFill>
                          <a:latin typeface="Calibri"/>
                        </a:rPr>
                        <a:t>−2.00</a:t>
                      </a:r>
                    </a:p>
                  </a:txBody>
                  <a:tcPr marL="27432" marR="27432" marT="9144" marB="9144" anchor="ctr">
                    <a:solidFill>
                      <a:srgbClr val="F6F8FA"/>
                    </a:solidFill>
                  </a:tcPr>
                </a:tc>
                <a:tc>
                  <a:txBody>
                    <a:bodyPr/>
                    <a:lstStyle/>
                    <a:p>
                      <a:pPr algn="ctr"/>
                      <a:r>
                        <a:rPr sz="1250" b="0" i="0">
                          <a:solidFill>
                            <a:srgbClr val="262626"/>
                          </a:solidFill>
                          <a:latin typeface="Calibri"/>
                        </a:rPr>
                        <a:t>−0.25</a:t>
                      </a:r>
                    </a:p>
                  </a:txBody>
                  <a:tcPr marL="27432" marR="27432" marT="9144" marB="9144" anchor="ctr">
                    <a:solidFill>
                      <a:srgbClr val="F6F8FA"/>
                    </a:solidFill>
                  </a:tcPr>
                </a:tc>
                <a:tc>
                  <a:txBody>
                    <a:bodyPr/>
                    <a:lstStyle/>
                    <a:p>
                      <a:pPr algn="ctr"/>
                      <a:r>
                        <a:rPr sz="1250" b="0" i="0">
                          <a:solidFill>
                            <a:srgbClr val="262626"/>
                          </a:solidFill>
                          <a:latin typeface="Calibri"/>
                        </a:rPr>
                        <a:t>1.00</a:t>
                      </a:r>
                    </a:p>
                  </a:txBody>
                  <a:tcPr marL="27432" marR="27432" marT="9144" marB="9144" anchor="ctr">
                    <a:solidFill>
                      <a:srgbClr val="F6F8FA"/>
                    </a:solidFill>
                  </a:tcPr>
                </a:tc>
                <a:tc>
                  <a:txBody>
                    <a:bodyPr/>
                    <a:lstStyle/>
                    <a:p>
                      <a:pPr algn="ctr"/>
                      <a:r>
                        <a:rPr sz="1250" b="0" i="0">
                          <a:solidFill>
                            <a:srgbClr val="262626"/>
                          </a:solidFill>
                          <a:latin typeface="Calibri"/>
                        </a:rPr>
                        <a:t>−1.25</a:t>
                      </a:r>
                    </a:p>
                  </a:txBody>
                  <a:tcPr marL="27432" marR="27432" marT="9144" marB="9144" anchor="ctr">
                    <a:solidFill>
                      <a:srgbClr val="F6F8FA"/>
                    </a:solidFill>
                  </a:tcPr>
                </a:tc>
                <a:tc>
                  <a:txBody>
                    <a:bodyPr/>
                    <a:lstStyle/>
                    <a:p>
                      <a:pPr algn="ctr"/>
                      <a:r>
                        <a:rPr sz="1250" b="0" i="0">
                          <a:solidFill>
                            <a:srgbClr val="262626"/>
                          </a:solidFill>
                          <a:latin typeface="Calibri"/>
                        </a:rPr>
                        <a:t>0.50</a:t>
                      </a:r>
                    </a:p>
                  </a:txBody>
                  <a:tcPr marL="27432" marR="27432" marT="9144" marB="9144" anchor="ctr">
                    <a:solidFill>
                      <a:srgbClr val="F6F8FA"/>
                    </a:solidFill>
                  </a:tcPr>
                </a:tc>
                <a:tc>
                  <a:txBody>
                    <a:bodyPr/>
                    <a:lstStyle/>
                    <a:p>
                      <a:pPr algn="ctr"/>
                      <a:r>
                        <a:rPr sz="1250" b="0" i="0">
                          <a:solidFill>
                            <a:srgbClr val="262626"/>
                          </a:solidFill>
                          <a:latin typeface="Calibri"/>
                        </a:rPr>
                        <a:t>1.25</a:t>
                      </a:r>
                    </a:p>
                  </a:txBody>
                  <a:tcPr marL="27432" marR="27432" marT="9144" marB="9144" anchor="ctr">
                    <a:solidFill>
                      <a:srgbClr val="F6F8FA"/>
                    </a:solidFill>
                  </a:tcPr>
                </a:tc>
                <a:tc>
                  <a:txBody>
                    <a:bodyPr/>
                    <a:lstStyle/>
                    <a:p>
                      <a:pPr algn="ctr"/>
                      <a:r>
                        <a:rPr sz="1250" b="0" i="0">
                          <a:solidFill>
                            <a:srgbClr val="262626"/>
                          </a:solidFill>
                          <a:latin typeface="Calibri"/>
                        </a:rPr>
                        <a:t>−0.50</a:t>
                      </a:r>
                    </a:p>
                  </a:txBody>
                  <a:tcPr marL="27432" marR="27432" marT="9144" marB="9144" anchor="ctr">
                    <a:solidFill>
                      <a:srgbClr val="F6F8FA"/>
                    </a:solidFill>
                  </a:tcPr>
                </a:tc>
                <a:tc>
                  <a:txBody>
                    <a:bodyPr/>
                    <a:lstStyle/>
                    <a:p>
                      <a:pPr algn="ctr"/>
                      <a:r>
                        <a:rPr sz="1250" b="0" i="0">
                          <a:solidFill>
                            <a:srgbClr val="262626"/>
                          </a:solidFill>
                          <a:latin typeface="Calibri"/>
                        </a:rPr>
                        <a:t>1.25</a:t>
                      </a:r>
                    </a:p>
                  </a:txBody>
                  <a:tcPr marL="27432" marR="27432" marT="9144" marB="9144" anchor="ctr">
                    <a:solidFill>
                      <a:srgbClr val="F6F8FA"/>
                    </a:solidFill>
                  </a:tcPr>
                </a:tc>
              </a:tr>
              <a:tr h="292608">
                <a:tc>
                  <a:txBody>
                    <a:bodyPr/>
                    <a:lstStyle/>
                    <a:p>
                      <a:pPr algn="l"/>
                      <a:r>
                        <a:rPr sz="1250" b="1" i="0">
                          <a:solidFill>
                            <a:srgbClr val="1F3A5F"/>
                          </a:solidFill>
                          <a:latin typeface="Calibri"/>
                        </a:rPr>
                        <a:t>D</a:t>
                      </a:r>
                      <a:r>
                        <a:rPr sz="1250" b="1" i="0" baseline="-25000">
                          <a:solidFill>
                            <a:srgbClr val="1F3A5F"/>
                          </a:solidFill>
                          <a:latin typeface="Calibri"/>
                        </a:rPr>
                        <a:t>2</a:t>
                      </a:r>
                      <a:r>
                        <a:rPr sz="1250" b="0" i="1">
                          <a:solidFill>
                            <a:srgbClr val="1F3A5F"/>
                          </a:solidFill>
                          <a:latin typeface="Calibri"/>
                        </a:rPr>
                        <a:t>  medium</a:t>
                      </a:r>
                    </a:p>
                  </a:txBody>
                  <a:tcPr marL="27432" marR="27432" marT="9144" marB="9144" anchor="ctr">
                    <a:solidFill>
                      <a:srgbClr val="DDE4EC"/>
                    </a:solidFill>
                  </a:tcPr>
                </a:tc>
                <a:tc>
                  <a:txBody>
                    <a:bodyPr/>
                    <a:lstStyle/>
                    <a:p>
                      <a:pPr algn="ctr"/>
                      <a:r>
                        <a:rPr sz="1250" b="0" i="0">
                          <a:solidFill>
                            <a:srgbClr val="262626"/>
                          </a:solidFill>
                          <a:latin typeface="Calibri"/>
                        </a:rPr>
                        <a:t>−1.88</a:t>
                      </a:r>
                    </a:p>
                  </a:txBody>
                  <a:tcPr marL="27432" marR="27432" marT="9144" marB="9144" anchor="ctr">
                    <a:solidFill>
                      <a:srgbClr val="FFFFFF"/>
                    </a:solidFill>
                  </a:tcPr>
                </a:tc>
                <a:tc>
                  <a:txBody>
                    <a:bodyPr/>
                    <a:lstStyle/>
                    <a:p>
                      <a:pPr algn="ctr"/>
                      <a:r>
                        <a:rPr sz="1250" b="0" i="0">
                          <a:solidFill>
                            <a:srgbClr val="262626"/>
                          </a:solidFill>
                          <a:latin typeface="Calibri"/>
                        </a:rPr>
                        <a:t>−1.38</a:t>
                      </a:r>
                    </a:p>
                  </a:txBody>
                  <a:tcPr marL="27432" marR="27432" marT="9144" marB="9144" anchor="ctr">
                    <a:solidFill>
                      <a:srgbClr val="FFFFFF"/>
                    </a:solidFill>
                  </a:tcPr>
                </a:tc>
                <a:tc>
                  <a:txBody>
                    <a:bodyPr/>
                    <a:lstStyle/>
                    <a:p>
                      <a:pPr algn="ctr"/>
                      <a:r>
                        <a:rPr sz="1250" b="0" i="0">
                          <a:solidFill>
                            <a:srgbClr val="262626"/>
                          </a:solidFill>
                          <a:latin typeface="Calibri"/>
                        </a:rPr>
                        <a:t>−0.38</a:t>
                      </a:r>
                    </a:p>
                  </a:txBody>
                  <a:tcPr marL="27432" marR="27432" marT="9144" marB="9144" anchor="ctr">
                    <a:solidFill>
                      <a:srgbClr val="FFFFFF"/>
                    </a:solidFill>
                  </a:tcPr>
                </a:tc>
                <a:tc>
                  <a:txBody>
                    <a:bodyPr/>
                    <a:lstStyle/>
                    <a:p>
                      <a:pPr algn="ctr"/>
                      <a:r>
                        <a:rPr sz="1250" b="0" i="0">
                          <a:solidFill>
                            <a:srgbClr val="262626"/>
                          </a:solidFill>
                          <a:latin typeface="Calibri"/>
                        </a:rPr>
                        <a:t>−0.12</a:t>
                      </a:r>
                    </a:p>
                  </a:txBody>
                  <a:tcPr marL="27432" marR="27432" marT="9144" marB="9144" anchor="ctr">
                    <a:solidFill>
                      <a:srgbClr val="FFFFFF"/>
                    </a:solidFill>
                  </a:tcPr>
                </a:tc>
                <a:tc>
                  <a:txBody>
                    <a:bodyPr/>
                    <a:lstStyle/>
                    <a:p>
                      <a:pPr algn="ctr"/>
                      <a:r>
                        <a:rPr sz="1250" b="0" i="0">
                          <a:solidFill>
                            <a:srgbClr val="262626"/>
                          </a:solidFill>
                          <a:latin typeface="Calibri"/>
                        </a:rPr>
                        <a:t>0.88</a:t>
                      </a:r>
                    </a:p>
                  </a:txBody>
                  <a:tcPr marL="27432" marR="27432" marT="9144" marB="9144" anchor="ctr">
                    <a:solidFill>
                      <a:srgbClr val="FFFFFF"/>
                    </a:solidFill>
                  </a:tcPr>
                </a:tc>
                <a:tc>
                  <a:txBody>
                    <a:bodyPr/>
                    <a:lstStyle/>
                    <a:p>
                      <a:pPr algn="ctr"/>
                      <a:r>
                        <a:rPr sz="1250" b="0" i="0">
                          <a:solidFill>
                            <a:srgbClr val="262626"/>
                          </a:solidFill>
                          <a:latin typeface="Calibri"/>
                        </a:rPr>
                        <a:t>1.88</a:t>
                      </a:r>
                    </a:p>
                  </a:txBody>
                  <a:tcPr marL="27432" marR="27432" marT="9144" marB="9144" anchor="ctr">
                    <a:solidFill>
                      <a:srgbClr val="FFFFFF"/>
                    </a:solidFill>
                  </a:tcPr>
                </a:tc>
                <a:tc>
                  <a:txBody>
                    <a:bodyPr/>
                    <a:lstStyle/>
                    <a:p>
                      <a:pPr algn="ctr"/>
                      <a:r>
                        <a:rPr sz="1250" b="0" i="0">
                          <a:solidFill>
                            <a:srgbClr val="262626"/>
                          </a:solidFill>
                          <a:latin typeface="Calibri"/>
                        </a:rPr>
                        <a:t>1.38</a:t>
                      </a:r>
                    </a:p>
                  </a:txBody>
                  <a:tcPr marL="27432" marR="27432" marT="9144" marB="9144" anchor="ctr">
                    <a:solidFill>
                      <a:srgbClr val="FFFFFF"/>
                    </a:solidFill>
                  </a:tcPr>
                </a:tc>
                <a:tc>
                  <a:txBody>
                    <a:bodyPr/>
                    <a:lstStyle/>
                    <a:p>
                      <a:pPr algn="ctr"/>
                      <a:r>
                        <a:rPr sz="1250" b="0" i="0">
                          <a:solidFill>
                            <a:srgbClr val="262626"/>
                          </a:solidFill>
                          <a:latin typeface="Calibri"/>
                        </a:rPr>
                        <a:t>−0.38</a:t>
                      </a:r>
                    </a:p>
                  </a:txBody>
                  <a:tcPr marL="27432" marR="27432" marT="9144" marB="9144" anchor="ctr">
                    <a:solidFill>
                      <a:srgbClr val="FFFFFF"/>
                    </a:solidFill>
                  </a:tcPr>
                </a:tc>
              </a:tr>
              <a:tr h="292608">
                <a:tc>
                  <a:txBody>
                    <a:bodyPr/>
                    <a:lstStyle/>
                    <a:p>
                      <a:pPr algn="l"/>
                      <a:r>
                        <a:rPr sz="1250" b="1" i="0">
                          <a:solidFill>
                            <a:srgbClr val="1F3A5F"/>
                          </a:solidFill>
                          <a:latin typeface="Calibri"/>
                        </a:rPr>
                        <a:t>S</a:t>
                      </a:r>
                      <a:r>
                        <a:rPr sz="1250" b="1" i="0" baseline="-25000">
                          <a:solidFill>
                            <a:srgbClr val="1F3A5F"/>
                          </a:solidFill>
                          <a:latin typeface="Calibri"/>
                        </a:rPr>
                        <a:t>2</a:t>
                      </a:r>
                      <a:r>
                        <a:rPr sz="1250" b="0" i="1">
                          <a:solidFill>
                            <a:srgbClr val="1F3A5F"/>
                          </a:solidFill>
                          <a:latin typeface="Calibri"/>
                        </a:rPr>
                        <a:t>  smooth</a:t>
                      </a:r>
                    </a:p>
                  </a:txBody>
                  <a:tcPr marL="27432" marR="27432" marT="9144" marB="9144" anchor="ctr">
                    <a:solidFill>
                      <a:srgbClr val="DDE4EC"/>
                    </a:solidFill>
                  </a:tcPr>
                </a:tc>
                <a:tc>
                  <a:txBody>
                    <a:bodyPr/>
                    <a:lstStyle/>
                    <a:p>
                      <a:pPr algn="ctr"/>
                      <a:r>
                        <a:rPr sz="1250" b="0" i="0">
                          <a:solidFill>
                            <a:srgbClr val="262626"/>
                          </a:solidFill>
                          <a:latin typeface="Calibri"/>
                        </a:rPr>
                        <a:t>23.88</a:t>
                      </a:r>
                    </a:p>
                  </a:txBody>
                  <a:tcPr marL="27432" marR="27432" marT="9144" marB="9144" anchor="ctr">
                    <a:solidFill>
                      <a:srgbClr val="F6F8FA"/>
                    </a:solidFill>
                  </a:tcPr>
                </a:tc>
                <a:tc>
                  <a:txBody>
                    <a:bodyPr/>
                    <a:lstStyle/>
                    <a:p>
                      <a:pPr algn="ctr"/>
                      <a:r>
                        <a:rPr sz="1250" b="0" i="0">
                          <a:solidFill>
                            <a:srgbClr val="262626"/>
                          </a:solidFill>
                          <a:latin typeface="Calibri"/>
                        </a:rPr>
                        <a:t>23.62</a:t>
                      </a:r>
                    </a:p>
                  </a:txBody>
                  <a:tcPr marL="27432" marR="27432" marT="9144" marB="9144" anchor="ctr">
                    <a:solidFill>
                      <a:srgbClr val="F6F8FA"/>
                    </a:solidFill>
                  </a:tcPr>
                </a:tc>
                <a:tc>
                  <a:txBody>
                    <a:bodyPr/>
                    <a:lstStyle/>
                    <a:p>
                      <a:pPr algn="ctr"/>
                      <a:r>
                        <a:rPr sz="1250" b="0" i="0">
                          <a:solidFill>
                            <a:srgbClr val="262626"/>
                          </a:solidFill>
                          <a:latin typeface="Calibri"/>
                        </a:rPr>
                        <a:t>24.38</a:t>
                      </a:r>
                    </a:p>
                  </a:txBody>
                  <a:tcPr marL="27432" marR="27432" marT="9144" marB="9144" anchor="ctr">
                    <a:solidFill>
                      <a:srgbClr val="F6F8FA"/>
                    </a:solidFill>
                  </a:tcPr>
                </a:tc>
                <a:tc>
                  <a:txBody>
                    <a:bodyPr/>
                    <a:lstStyle/>
                    <a:p>
                      <a:pPr algn="ctr"/>
                      <a:r>
                        <a:rPr sz="1250" b="0" i="0">
                          <a:solidFill>
                            <a:srgbClr val="262626"/>
                          </a:solidFill>
                          <a:latin typeface="Calibri"/>
                        </a:rPr>
                        <a:t>25.38</a:t>
                      </a:r>
                    </a:p>
                  </a:txBody>
                  <a:tcPr marL="27432" marR="27432" marT="9144" marB="9144" anchor="ctr">
                    <a:solidFill>
                      <a:srgbClr val="F6F8FA"/>
                    </a:solidFill>
                  </a:tcPr>
                </a:tc>
                <a:tc>
                  <a:txBody>
                    <a:bodyPr/>
                    <a:lstStyle/>
                    <a:p>
                      <a:pPr algn="ctr"/>
                      <a:r>
                        <a:rPr sz="1250" b="0" i="0">
                          <a:solidFill>
                            <a:srgbClr val="262626"/>
                          </a:solidFill>
                          <a:latin typeface="Calibri"/>
                        </a:rPr>
                        <a:t>26.62</a:t>
                      </a:r>
                    </a:p>
                  </a:txBody>
                  <a:tcPr marL="27432" marR="27432" marT="9144" marB="9144" anchor="ctr">
                    <a:solidFill>
                      <a:srgbClr val="F6F8FA"/>
                    </a:solidFill>
                  </a:tcPr>
                </a:tc>
                <a:tc>
                  <a:txBody>
                    <a:bodyPr/>
                    <a:lstStyle/>
                    <a:p>
                      <a:pPr algn="ctr"/>
                      <a:r>
                        <a:rPr sz="1250" b="0" i="0">
                          <a:solidFill>
                            <a:srgbClr val="262626"/>
                          </a:solidFill>
                          <a:latin typeface="Calibri"/>
                        </a:rPr>
                        <a:t>26.88</a:t>
                      </a:r>
                    </a:p>
                  </a:txBody>
                  <a:tcPr marL="27432" marR="27432" marT="9144" marB="9144" anchor="ctr">
                    <a:solidFill>
                      <a:srgbClr val="F6F8FA"/>
                    </a:solidFill>
                  </a:tcPr>
                </a:tc>
                <a:tc>
                  <a:txBody>
                    <a:bodyPr/>
                    <a:lstStyle/>
                    <a:p>
                      <a:pPr algn="ctr"/>
                      <a:r>
                        <a:rPr sz="1250" b="0" i="0">
                          <a:solidFill>
                            <a:srgbClr val="262626"/>
                          </a:solidFill>
                          <a:latin typeface="Calibri"/>
                        </a:rPr>
                        <a:t>26.12</a:t>
                      </a:r>
                    </a:p>
                  </a:txBody>
                  <a:tcPr marL="27432" marR="27432" marT="9144" marB="9144" anchor="ctr">
                    <a:solidFill>
                      <a:srgbClr val="F6F8FA"/>
                    </a:solidFill>
                  </a:tcPr>
                </a:tc>
                <a:tc>
                  <a:txBody>
                    <a:bodyPr/>
                    <a:lstStyle/>
                    <a:p>
                      <a:pPr algn="ctr"/>
                      <a:r>
                        <a:rPr sz="1250" b="0" i="0">
                          <a:solidFill>
                            <a:srgbClr val="262626"/>
                          </a:solidFill>
                          <a:latin typeface="Calibri"/>
                        </a:rPr>
                        <a:t>25.12</a:t>
                      </a:r>
                    </a:p>
                  </a:txBody>
                  <a:tcPr marL="27432" marR="27432" marT="9144" marB="9144" anchor="ctr">
                    <a:solidFill>
                      <a:srgbClr val="F6F8FA"/>
                    </a:solidFill>
                  </a:tcPr>
                </a:tc>
              </a:tr>
            </a:tbl>
          </a:graphicData>
        </a:graphic>
      </p:graphicFrame>
      <p:pic>
        <p:nvPicPr>
          <p:cNvPr id="10" name="Picture 9" descr="example_chart.png"/>
          <p:cNvPicPr>
            <a:picLocks noChangeAspect="1"/>
          </p:cNvPicPr>
          <p:nvPr/>
        </p:nvPicPr>
        <p:blipFill>
          <a:blip r:embed="rId3"/>
          <a:stretch>
            <a:fillRect/>
          </a:stretch>
        </p:blipFill>
        <p:spPr>
          <a:xfrm>
            <a:off x="548640" y="4114800"/>
            <a:ext cx="6172200" cy="1481328"/>
          </a:xfrm>
          <a:prstGeom prst="rect">
            <a:avLst/>
          </a:prstGeom>
        </p:spPr>
      </p:pic>
      <p:sp>
        <p:nvSpPr>
          <p:cNvPr id="11" name="Rounded Rectangle 10"/>
          <p:cNvSpPr/>
          <p:nvPr/>
        </p:nvSpPr>
        <p:spPr>
          <a:xfrm>
            <a:off x="6949440" y="1444752"/>
            <a:ext cx="4690872" cy="1005840"/>
          </a:xfrm>
          <a:prstGeom prst="roundRect">
            <a:avLst>
              <a:gd name="adj" fmla="val 6000"/>
            </a:avLst>
          </a:prstGeom>
          <a:solidFill>
            <a:srgbClr val="EEF1F5"/>
          </a:solidFill>
          <a:ln w="9525">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a:lstStyle/>
          <a:p>
            <a:pPr algn="l">
              <a:spcAft>
                <a:spcPts val="300"/>
              </a:spcAft>
            </a:pPr>
            <a:r>
              <a:rPr sz="1450" b="1" i="0">
                <a:solidFill>
                  <a:srgbClr val="1F3A5F"/>
                </a:solidFill>
                <a:latin typeface="Calibri"/>
              </a:rPr>
              <a:t>③  Forecast each component (CatBoost, last 3 lags)</a:t>
            </a:r>
          </a:p>
          <a:p>
            <a:pPr algn="l">
              <a:spcAft>
                <a:spcPts val="200"/>
              </a:spcAft>
            </a:pPr>
            <a:r>
              <a:rPr sz="1350" b="0" i="0">
                <a:solidFill>
                  <a:srgbClr val="262626"/>
                </a:solidFill>
                <a:latin typeface="Calibri"/>
              </a:rPr>
              <a:t>D</a:t>
            </a:r>
            <a:r>
              <a:rPr sz="1350" b="1" i="0" baseline="-25000">
                <a:solidFill>
                  <a:srgbClr val="262626"/>
                </a:solidFill>
                <a:latin typeface="Calibri"/>
              </a:rPr>
              <a:t>1</a:t>
            </a:r>
            <a:r>
              <a:rPr sz="1350" b="0" i="0">
                <a:solidFill>
                  <a:srgbClr val="262626"/>
                </a:solidFill>
                <a:latin typeface="Calibri"/>
              </a:rPr>
              <a:t>(6, 7, 8) → </a:t>
            </a:r>
            <a:r>
              <a:rPr sz="1350" b="1" i="0">
                <a:solidFill>
                  <a:srgbClr val="C55A11"/>
                </a:solidFill>
                <a:latin typeface="Calibri"/>
              </a:rPr>
              <a:t>0.25</a:t>
            </a:r>
            <a:r>
              <a:rPr sz="1350" b="0" i="0">
                <a:solidFill>
                  <a:srgbClr val="262626"/>
                </a:solidFill>
                <a:latin typeface="Calibri"/>
              </a:rPr>
              <a:t>      D</a:t>
            </a:r>
            <a:r>
              <a:rPr sz="1350" b="1" i="0" baseline="-25000">
                <a:solidFill>
                  <a:srgbClr val="262626"/>
                </a:solidFill>
                <a:latin typeface="Calibri"/>
              </a:rPr>
              <a:t>2</a:t>
            </a:r>
            <a:r>
              <a:rPr sz="1350" b="0" i="0">
                <a:solidFill>
                  <a:srgbClr val="262626"/>
                </a:solidFill>
                <a:latin typeface="Calibri"/>
              </a:rPr>
              <a:t>(6, 7, 8) → </a:t>
            </a:r>
            <a:r>
              <a:rPr sz="1350" b="1" i="0">
                <a:solidFill>
                  <a:srgbClr val="C55A11"/>
                </a:solidFill>
                <a:latin typeface="Calibri"/>
              </a:rPr>
              <a:t>−0.75</a:t>
            </a:r>
          </a:p>
          <a:p>
            <a:pPr algn="l">
              <a:spcAft>
                <a:spcPts val="200"/>
              </a:spcAft>
            </a:pPr>
            <a:r>
              <a:rPr sz="1350" b="0" i="0">
                <a:solidFill>
                  <a:srgbClr val="262626"/>
                </a:solidFill>
                <a:latin typeface="Calibri"/>
              </a:rPr>
              <a:t>S</a:t>
            </a:r>
            <a:r>
              <a:rPr sz="1350" b="1" i="0" baseline="-25000">
                <a:solidFill>
                  <a:srgbClr val="262626"/>
                </a:solidFill>
                <a:latin typeface="Calibri"/>
              </a:rPr>
              <a:t>2</a:t>
            </a:r>
            <a:r>
              <a:rPr sz="1350" b="0" i="0">
                <a:solidFill>
                  <a:srgbClr val="262626"/>
                </a:solidFill>
                <a:latin typeface="Calibri"/>
              </a:rPr>
              <a:t>(6, 7, 8) → </a:t>
            </a:r>
            <a:r>
              <a:rPr sz="1350" b="1" i="0">
                <a:solidFill>
                  <a:srgbClr val="C55A11"/>
                </a:solidFill>
                <a:latin typeface="Calibri"/>
              </a:rPr>
              <a:t>24.50</a:t>
            </a:r>
            <a:r>
              <a:rPr sz="1350" b="0" i="1">
                <a:solidFill>
                  <a:srgbClr val="262626"/>
                </a:solidFill>
                <a:latin typeface="Calibri"/>
              </a:rPr>
              <a:t>   one separate model per component</a:t>
            </a:r>
          </a:p>
        </p:txBody>
      </p:sp>
      <p:sp>
        <p:nvSpPr>
          <p:cNvPr id="12" name="Rounded Rectangle 11"/>
          <p:cNvSpPr/>
          <p:nvPr/>
        </p:nvSpPr>
        <p:spPr>
          <a:xfrm>
            <a:off x="6949440" y="2560320"/>
            <a:ext cx="4690872" cy="1005840"/>
          </a:xfrm>
          <a:prstGeom prst="roundRect">
            <a:avLst>
              <a:gd name="adj" fmla="val 6000"/>
            </a:avLst>
          </a:prstGeom>
          <a:solidFill>
            <a:srgbClr val="EEF1F5"/>
          </a:solidFill>
          <a:ln w="9525">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a:lstStyle/>
          <a:p>
            <a:pPr algn="l">
              <a:spcAft>
                <a:spcPts val="300"/>
              </a:spcAft>
            </a:pPr>
            <a:r>
              <a:rPr sz="1450" b="1" i="0">
                <a:solidFill>
                  <a:srgbClr val="1F3A5F"/>
                </a:solidFill>
                <a:latin typeface="Calibri"/>
              </a:rPr>
              <a:t>④  Reconstruct, then repeat</a:t>
            </a:r>
          </a:p>
          <a:p>
            <a:pPr algn="l">
              <a:spcAft>
                <a:spcPts val="200"/>
              </a:spcAft>
            </a:pPr>
            <a:r>
              <a:rPr sz="1350" b="0" i="0">
                <a:solidFill>
                  <a:srgbClr val="262626"/>
                </a:solidFill>
                <a:latin typeface="Calibri"/>
              </a:rPr>
              <a:t>Inverse MODWT:  </a:t>
            </a:r>
            <a:r>
              <a:rPr sz="1350" b="1" i="0">
                <a:solidFill>
                  <a:srgbClr val="262626"/>
                </a:solidFill>
                <a:latin typeface="Calibri"/>
              </a:rPr>
              <a:t>Ŷ</a:t>
            </a:r>
            <a:r>
              <a:rPr sz="1350" b="1" i="0" baseline="-25000">
                <a:solidFill>
                  <a:srgbClr val="262626"/>
                </a:solidFill>
                <a:latin typeface="Calibri"/>
              </a:rPr>
              <a:t>9</a:t>
            </a:r>
            <a:r>
              <a:rPr sz="1350" b="0" i="0">
                <a:solidFill>
                  <a:srgbClr val="262626"/>
                </a:solidFill>
                <a:latin typeface="Calibri"/>
              </a:rPr>
              <a:t> = 0.25 − 0.75 + 24.50 = </a:t>
            </a:r>
            <a:r>
              <a:rPr sz="1350" b="1" i="0">
                <a:solidFill>
                  <a:srgbClr val="C55A11"/>
                </a:solidFill>
                <a:latin typeface="Calibri"/>
              </a:rPr>
              <a:t>24.0</a:t>
            </a:r>
          </a:p>
          <a:p>
            <a:pPr algn="l">
              <a:spcAft>
                <a:spcPts val="200"/>
              </a:spcAft>
            </a:pPr>
            <a:r>
              <a:rPr sz="1350" b="0" i="0">
                <a:solidFill>
                  <a:srgbClr val="262626"/>
                </a:solidFill>
                <a:latin typeface="Calibri"/>
              </a:rPr>
              <a:t>Feed 24.0 back in → hour 10 → …  </a:t>
            </a:r>
            <a:r>
              <a:rPr sz="1350" b="0" i="1">
                <a:solidFill>
                  <a:srgbClr val="262626"/>
                </a:solidFill>
                <a:latin typeface="Calibri"/>
              </a:rPr>
              <a:t>(24 steps = 1 day)</a:t>
            </a:r>
          </a:p>
        </p:txBody>
      </p:sp>
      <p:sp>
        <p:nvSpPr>
          <p:cNvPr id="13" name="Rounded Rectangle 12"/>
          <p:cNvSpPr/>
          <p:nvPr/>
        </p:nvSpPr>
        <p:spPr>
          <a:xfrm>
            <a:off x="6949440" y="3675887"/>
            <a:ext cx="4690872" cy="1920240"/>
          </a:xfrm>
          <a:prstGeom prst="roundRect">
            <a:avLst>
              <a:gd name="adj" fmla="val 6000"/>
            </a:avLst>
          </a:prstGeom>
          <a:solidFill>
            <a:srgbClr val="EEF1F5"/>
          </a:solidFill>
          <a:ln w="9525">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a:lstStyle/>
          <a:p>
            <a:pPr algn="l">
              <a:spcAft>
                <a:spcPts val="300"/>
              </a:spcAft>
            </a:pPr>
            <a:r>
              <a:rPr sz="1450" b="1" i="0">
                <a:solidFill>
                  <a:srgbClr val="1F3A5F"/>
                </a:solidFill>
                <a:latin typeface="Calibri"/>
              </a:rPr>
              <a:t>⑤  Conformal 95% interval</a:t>
            </a:r>
          </a:p>
          <a:p>
            <a:pPr algn="l">
              <a:spcAft>
                <a:spcPts val="200"/>
              </a:spcAft>
            </a:pPr>
            <a:r>
              <a:rPr sz="1350" b="0" i="0">
                <a:solidFill>
                  <a:srgbClr val="262626"/>
                </a:solidFill>
                <a:latin typeface="Calibri"/>
              </a:rPr>
              <a:t>Recent window: scores  CS = |error| / Û  →  </a:t>
            </a:r>
            <a:r>
              <a:rPr sz="1350" b="1" i="0">
                <a:solidFill>
                  <a:srgbClr val="262626"/>
                </a:solidFill>
                <a:latin typeface="Calibri"/>
              </a:rPr>
              <a:t>CQ = 1.95</a:t>
            </a:r>
          </a:p>
          <a:p>
            <a:pPr algn="l">
              <a:spcAft>
                <a:spcPts val="200"/>
              </a:spcAft>
            </a:pPr>
            <a:r>
              <a:rPr sz="1350" b="0" i="0">
                <a:solidFill>
                  <a:srgbClr val="262626"/>
                </a:solidFill>
                <a:latin typeface="Calibri"/>
              </a:rPr>
              <a:t>Current scale Û = 2.0   →   24.0 ± 1.95 × 2.0 = 24.0 ± 3.9</a:t>
            </a:r>
          </a:p>
          <a:p>
            <a:pPr algn="l">
              <a:spcAft>
                <a:spcPts val="200"/>
              </a:spcAft>
            </a:pPr>
            <a:r>
              <a:rPr sz="1350" b="1" i="0">
                <a:solidFill>
                  <a:srgbClr val="1F3A5F"/>
                </a:solidFill>
                <a:latin typeface="Calibri"/>
              </a:rPr>
              <a:t>Answer: </a:t>
            </a:r>
            <a:r>
              <a:rPr sz="1350" b="1" i="0">
                <a:solidFill>
                  <a:srgbClr val="C55A11"/>
                </a:solidFill>
                <a:latin typeface="Calibri"/>
              </a:rPr>
              <a:t>24.0 µg/m³,  range [20.1, 27.9]</a:t>
            </a:r>
          </a:p>
          <a:p>
            <a:pPr algn="l">
              <a:spcAft>
                <a:spcPts val="200"/>
              </a:spcAft>
            </a:pPr>
            <a:r>
              <a:rPr sz="1350" b="0" i="0">
                <a:solidFill>
                  <a:srgbClr val="2E7D32"/>
                </a:solidFill>
                <a:latin typeface="Calibri"/>
              </a:rPr>
              <a:t>Actual = 25 → inside the band.</a:t>
            </a:r>
          </a:p>
          <a:p>
            <a:pPr algn="l">
              <a:spcAft>
                <a:spcPts val="200"/>
              </a:spcAft>
            </a:pPr>
            <a:r>
              <a:rPr sz="1350" b="0" i="0">
                <a:solidFill>
                  <a:srgbClr val="262626"/>
                </a:solidFill>
                <a:latin typeface="Calibri"/>
              </a:rPr>
              <a:t>Its score |25 − 24| / 2 = 0.5 joins the window for next time.</a:t>
            </a:r>
          </a:p>
        </p:txBody>
      </p:sp>
      <p:sp>
        <p:nvSpPr>
          <p:cNvPr id="14" name="TextBox 13"/>
          <p:cNvSpPr txBox="1"/>
          <p:nvPr/>
        </p:nvSpPr>
        <p:spPr>
          <a:xfrm>
            <a:off x="548640" y="5614416"/>
            <a:ext cx="6309360" cy="256032"/>
          </a:xfrm>
          <a:prstGeom prst="rect">
            <a:avLst/>
          </a:prstGeom>
          <a:noFill/>
        </p:spPr>
        <p:txBody>
          <a:bodyPr wrap="square" anchor="t" lIns="45720" rIns="45720" tIns="18288" bIns="18288">
            <a:spAutoFit/>
          </a:bodyPr>
          <a:lstStyle/>
          <a:p>
            <a:pPr algn="l">
              <a:spcAft>
                <a:spcPts val="200"/>
              </a:spcAft>
            </a:pPr>
            <a:r>
              <a:rPr sz="1050" b="0" i="1">
                <a:solidFill>
                  <a:srgbClr val="262626"/>
                </a:solidFill>
                <a:latin typeface="Calibri"/>
              </a:rPr>
              <a:t>D, S: exact Haar MODWT of the series (rounded). CatBoost outputs, Û and CQ are illustrative.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Evaluation Plan: MASE and MCB</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18</a:t>
            </a:r>
          </a:p>
        </p:txBody>
      </p:sp>
      <p:sp>
        <p:nvSpPr>
          <p:cNvPr id="6" name="TextBox 5"/>
          <p:cNvSpPr txBox="1"/>
          <p:nvPr/>
        </p:nvSpPr>
        <p:spPr>
          <a:xfrm>
            <a:off x="548640" y="1033271"/>
            <a:ext cx="11064240" cy="365760"/>
          </a:xfrm>
          <a:prstGeom prst="rect">
            <a:avLst/>
          </a:prstGeom>
          <a:noFill/>
        </p:spPr>
        <p:txBody>
          <a:bodyPr wrap="square" anchor="t" lIns="45720" rIns="45720" tIns="18288" bIns="18288">
            <a:spAutoFit/>
          </a:bodyPr>
          <a:lstStyle/>
          <a:p>
            <a:pPr algn="l">
              <a:spcAft>
                <a:spcPts val="300"/>
              </a:spcAft>
            </a:pPr>
            <a:r>
              <a:rPr sz="1500" b="1" i="0">
                <a:solidFill>
                  <a:srgbClr val="1F3A5F"/>
                </a:solidFill>
                <a:latin typeface="Calibri"/>
              </a:rPr>
              <a:t>Plan: </a:t>
            </a:r>
            <a:r>
              <a:rPr sz="1500" b="0" i="0">
                <a:solidFill>
                  <a:srgbClr val="262626"/>
                </a:solidFill>
                <a:latin typeface="Calibri"/>
              </a:rPr>
              <a:t>give every model the same data, score it with MASE, then test whether the differences are real with MCB.</a:t>
            </a:r>
          </a:p>
        </p:txBody>
      </p:sp>
      <p:sp>
        <p:nvSpPr>
          <p:cNvPr id="7" name="Rounded Rectangle 6"/>
          <p:cNvSpPr/>
          <p:nvPr/>
        </p:nvSpPr>
        <p:spPr>
          <a:xfrm>
            <a:off x="548640" y="1444752"/>
            <a:ext cx="5852160" cy="1417320"/>
          </a:xfrm>
          <a:prstGeom prst="roundRect">
            <a:avLst>
              <a:gd name="adj" fmla="val 4000"/>
            </a:avLst>
          </a:prstGeom>
          <a:solidFill>
            <a:srgbClr val="EEF1F5"/>
          </a:solidFill>
          <a:ln w="9525">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499616"/>
            <a:ext cx="5596128" cy="1325880"/>
          </a:xfrm>
          <a:prstGeom prst="rect">
            <a:avLst/>
          </a:prstGeom>
          <a:noFill/>
        </p:spPr>
        <p:txBody>
          <a:bodyPr wrap="square" anchor="t" lIns="45720" rIns="45720" tIns="18288" bIns="18288">
            <a:spAutoFit/>
          </a:bodyPr>
          <a:lstStyle/>
          <a:p>
            <a:pPr algn="l">
              <a:spcAft>
                <a:spcPts val="200"/>
              </a:spcAft>
            </a:pPr>
            <a:r>
              <a:rPr sz="1350" b="1" i="0">
                <a:solidFill>
                  <a:srgbClr val="1F3A5F"/>
                </a:solidFill>
                <a:latin typeface="Calibri"/>
              </a:rPr>
              <a:t>①  Fair comparison setup</a:t>
            </a:r>
          </a:p>
          <a:p>
            <a:pPr algn="l">
              <a:spcAft>
                <a:spcPts val="200"/>
              </a:spcAft>
            </a:pPr>
            <a:r>
              <a:rPr sz="1350" b="0" i="0">
                <a:solidFill>
                  <a:srgbClr val="262626"/>
                </a:solidFill>
                <a:latin typeface="Calibri"/>
              </a:rPr>
              <a:t>•  Chronological split: train on earlier months, test on later ones (no shuffling)</a:t>
            </a:r>
          </a:p>
          <a:p>
            <a:pPr algn="l">
              <a:spcAft>
                <a:spcPts val="200"/>
              </a:spcAft>
            </a:pPr>
            <a:r>
              <a:rPr sz="1350" b="0" i="0">
                <a:solidFill>
                  <a:srgbClr val="262626"/>
                </a:solidFill>
                <a:latin typeface="Calibri"/>
              </a:rPr>
              <a:t>•  Horizons 1, 7, 14, 31 days × 6 pollutants × 2 sensors = </a:t>
            </a:r>
            <a:r>
              <a:rPr sz="1350" b="1" i="0">
                <a:solidFill>
                  <a:srgbClr val="262626"/>
                </a:solidFill>
                <a:latin typeface="Calibri"/>
              </a:rPr>
              <a:t>n = 48 test cases</a:t>
            </a:r>
          </a:p>
          <a:p>
            <a:pPr algn="l">
              <a:spcAft>
                <a:spcPts val="200"/>
              </a:spcAft>
            </a:pPr>
            <a:r>
              <a:rPr sz="1350" b="0" i="0">
                <a:solidFill>
                  <a:srgbClr val="262626"/>
                </a:solidFill>
                <a:latin typeface="Calibri"/>
              </a:rPr>
              <a:t>•  WaveCatBoost + baselines (e.g. plain CatBoost, XGB, LSTM) with identical inputs</a:t>
            </a:r>
          </a:p>
        </p:txBody>
      </p:sp>
      <p:sp>
        <p:nvSpPr>
          <p:cNvPr id="9" name="Rounded Rectangle 8"/>
          <p:cNvSpPr/>
          <p:nvPr/>
        </p:nvSpPr>
        <p:spPr>
          <a:xfrm>
            <a:off x="548640" y="2953512"/>
            <a:ext cx="5852160" cy="2651760"/>
          </a:xfrm>
          <a:prstGeom prst="roundRect">
            <a:avLst>
              <a:gd name="adj" fmla="val 4000"/>
            </a:avLst>
          </a:prstGeom>
          <a:solidFill>
            <a:srgbClr val="EEF1F5"/>
          </a:solidFill>
          <a:ln w="9525">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3008376"/>
            <a:ext cx="5596128" cy="320040"/>
          </a:xfrm>
          <a:prstGeom prst="rect">
            <a:avLst/>
          </a:prstGeom>
          <a:noFill/>
        </p:spPr>
        <p:txBody>
          <a:bodyPr wrap="square" anchor="t" lIns="45720" rIns="45720" tIns="18288" bIns="18288">
            <a:spAutoFit/>
          </a:bodyPr>
          <a:lstStyle/>
          <a:p>
            <a:pPr algn="l">
              <a:spcAft>
                <a:spcPts val="300"/>
              </a:spcAft>
            </a:pPr>
            <a:r>
              <a:rPr sz="1350" b="1" i="0">
                <a:solidFill>
                  <a:srgbClr val="1F3A5F"/>
                </a:solidFill>
                <a:latin typeface="Calibri"/>
              </a:rPr>
              <a:t>②  Score each forecast with MASE</a:t>
            </a:r>
          </a:p>
        </p:txBody>
      </p:sp>
      <p:pic>
        <p:nvPicPr>
          <p:cNvPr id="11" name="Picture 10" descr="image.png"/>
          <p:cNvPicPr>
            <a:picLocks noChangeAspect="1"/>
          </p:cNvPicPr>
          <p:nvPr/>
        </p:nvPicPr>
        <p:blipFill>
          <a:blip r:embed="rId4"/>
          <a:stretch>
            <a:fillRect/>
          </a:stretch>
        </p:blipFill>
        <p:spPr>
          <a:xfrm>
            <a:off x="868680" y="3364992"/>
            <a:ext cx="2466442" cy="960120"/>
          </a:xfrm>
          <a:prstGeom prst="rect">
            <a:avLst/>
          </a:prstGeom>
        </p:spPr>
      </p:pic>
      <p:sp>
        <p:nvSpPr>
          <p:cNvPr id="12" name="TextBox 11"/>
          <p:cNvSpPr txBox="1"/>
          <p:nvPr/>
        </p:nvSpPr>
        <p:spPr>
          <a:xfrm>
            <a:off x="676656" y="4389120"/>
            <a:ext cx="5596128" cy="1188720"/>
          </a:xfrm>
          <a:prstGeom prst="rect">
            <a:avLst/>
          </a:prstGeom>
          <a:noFill/>
        </p:spPr>
        <p:txBody>
          <a:bodyPr wrap="square" anchor="t" lIns="45720" rIns="45720" tIns="18288" bIns="18288">
            <a:spAutoFit/>
          </a:bodyPr>
          <a:lstStyle/>
          <a:p>
            <a:pPr algn="l">
              <a:spcAft>
                <a:spcPts val="100"/>
              </a:spcAft>
            </a:pPr>
            <a:r>
              <a:rPr sz="1300" b="1" i="0">
                <a:solidFill>
                  <a:srgbClr val="262626"/>
                </a:solidFill>
                <a:latin typeface="Calibri"/>
              </a:rPr>
              <a:t>Top: </a:t>
            </a:r>
            <a:r>
              <a:rPr sz="1300" b="0" i="0">
                <a:solidFill>
                  <a:srgbClr val="262626"/>
                </a:solidFill>
                <a:latin typeface="Calibri"/>
              </a:rPr>
              <a:t>model's mean absolute error over the h test hours</a:t>
            </a:r>
          </a:p>
          <a:p>
            <a:pPr algn="l">
              <a:spcAft>
                <a:spcPts val="100"/>
              </a:spcAft>
            </a:pPr>
            <a:r>
              <a:rPr sz="1300" b="1" i="0">
                <a:solidFill>
                  <a:srgbClr val="262626"/>
                </a:solidFill>
                <a:latin typeface="Calibri"/>
              </a:rPr>
              <a:t>Bottom: </a:t>
            </a:r>
            <a:r>
              <a:rPr sz="1300" b="0" i="0">
                <a:solidFill>
                  <a:srgbClr val="262626"/>
                </a:solidFill>
                <a:latin typeface="Calibri"/>
              </a:rPr>
              <a:t>training error of a seasonal naive forecast (S = 24: “same hour yesterday”)</a:t>
            </a:r>
          </a:p>
          <a:p>
            <a:pPr algn="l">
              <a:spcAft>
                <a:spcPts val="100"/>
              </a:spcAft>
            </a:pPr>
            <a:r>
              <a:rPr sz="1300" b="1" i="0">
                <a:solidFill>
                  <a:srgbClr val="262626"/>
                </a:solidFill>
                <a:latin typeface="Calibri"/>
              </a:rPr>
              <a:t>Lower is better. </a:t>
            </a:r>
            <a:r>
              <a:rPr sz="1300" b="0" i="0">
                <a:solidFill>
                  <a:srgbClr val="262626"/>
                </a:solidFill>
                <a:latin typeface="Calibri"/>
              </a:rPr>
              <a:t>&lt; 1 beats naive; scale-free, so pollutants can be compared</a:t>
            </a:r>
          </a:p>
          <a:p>
            <a:pPr algn="l">
              <a:spcAft>
                <a:spcPts val="100"/>
              </a:spcAft>
            </a:pPr>
            <a:r>
              <a:rPr sz="1300" b="0" i="0">
                <a:solidFill>
                  <a:srgbClr val="262626"/>
                </a:solidFill>
                <a:latin typeface="Calibri"/>
              </a:rPr>
              <a:t>e.g. model error 3.0, naive error 5.0  →  MASE = </a:t>
            </a:r>
            <a:r>
              <a:rPr sz="1300" b="1" i="0">
                <a:solidFill>
                  <a:srgbClr val="C55A11"/>
                </a:solidFill>
                <a:latin typeface="Calibri"/>
              </a:rPr>
              <a:t>0.6</a:t>
            </a:r>
          </a:p>
        </p:txBody>
      </p:sp>
      <p:sp>
        <p:nvSpPr>
          <p:cNvPr id="13" name="Rounded Rectangle 12"/>
          <p:cNvSpPr/>
          <p:nvPr/>
        </p:nvSpPr>
        <p:spPr>
          <a:xfrm>
            <a:off x="6583680" y="1444752"/>
            <a:ext cx="5056632" cy="4160520"/>
          </a:xfrm>
          <a:prstGeom prst="roundRect">
            <a:avLst>
              <a:gd name="adj" fmla="val 4000"/>
            </a:avLst>
          </a:prstGeom>
          <a:solidFill>
            <a:srgbClr val="EEF1F5"/>
          </a:solidFill>
          <a:ln w="9525">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11696" y="1499616"/>
            <a:ext cx="4800600" cy="1325880"/>
          </a:xfrm>
          <a:prstGeom prst="rect">
            <a:avLst/>
          </a:prstGeom>
          <a:noFill/>
        </p:spPr>
        <p:txBody>
          <a:bodyPr wrap="square" anchor="t" lIns="45720" rIns="45720" tIns="18288" bIns="18288">
            <a:spAutoFit/>
          </a:bodyPr>
          <a:lstStyle/>
          <a:p>
            <a:pPr algn="l">
              <a:spcAft>
                <a:spcPts val="200"/>
              </a:spcAft>
            </a:pPr>
            <a:r>
              <a:rPr sz="1350" b="1" i="0">
                <a:solidFill>
                  <a:srgbClr val="1F3A5F"/>
                </a:solidFill>
                <a:latin typeface="Calibri"/>
              </a:rPr>
              <a:t>③  Is the difference real? MCB test</a:t>
            </a:r>
          </a:p>
          <a:p>
            <a:pPr algn="l">
              <a:spcAft>
                <a:spcPts val="200"/>
              </a:spcAft>
            </a:pPr>
            <a:r>
              <a:rPr sz="1350" b="0" i="0">
                <a:solidFill>
                  <a:srgbClr val="262626"/>
                </a:solidFill>
                <a:latin typeface="Calibri"/>
              </a:rPr>
              <a:t>1. Rank the k models by MASE in each of the n cases (1 = best)</a:t>
            </a:r>
          </a:p>
          <a:p>
            <a:pPr algn="l">
              <a:spcAft>
                <a:spcPts val="200"/>
              </a:spcAft>
            </a:pPr>
            <a:r>
              <a:rPr sz="1350" b="0" i="0">
                <a:solidFill>
                  <a:srgbClr val="262626"/>
                </a:solidFill>
                <a:latin typeface="Calibri"/>
              </a:rPr>
              <a:t>2. Average each model’s ranks, then give it an interval:</a:t>
            </a:r>
          </a:p>
        </p:txBody>
      </p:sp>
      <p:pic>
        <p:nvPicPr>
          <p:cNvPr id="15" name="Picture 14" descr="mcb_formula.png"/>
          <p:cNvPicPr>
            <a:picLocks noChangeAspect="1"/>
          </p:cNvPicPr>
          <p:nvPr/>
        </p:nvPicPr>
        <p:blipFill>
          <a:blip r:embed="rId8"/>
          <a:stretch>
            <a:fillRect/>
          </a:stretch>
        </p:blipFill>
        <p:spPr>
          <a:xfrm>
            <a:off x="6949440" y="2340864"/>
            <a:ext cx="1929167" cy="566928"/>
          </a:xfrm>
          <a:prstGeom prst="rect">
            <a:avLst/>
          </a:prstGeom>
        </p:spPr>
      </p:pic>
      <p:sp>
        <p:nvSpPr>
          <p:cNvPr id="16" name="TextBox 15"/>
          <p:cNvSpPr txBox="1"/>
          <p:nvPr/>
        </p:nvSpPr>
        <p:spPr>
          <a:xfrm>
            <a:off x="9235440" y="2359152"/>
            <a:ext cx="2286000" cy="548640"/>
          </a:xfrm>
          <a:prstGeom prst="rect">
            <a:avLst/>
          </a:prstGeom>
          <a:noFill/>
        </p:spPr>
        <p:txBody>
          <a:bodyPr wrap="square" anchor="t" lIns="45720" rIns="45720" tIns="18288" bIns="18288">
            <a:spAutoFit/>
          </a:bodyPr>
          <a:lstStyle/>
          <a:p>
            <a:pPr algn="l">
              <a:spcAft>
                <a:spcPts val="0"/>
              </a:spcAft>
            </a:pPr>
            <a:r>
              <a:rPr sz="1100" b="0" i="0">
                <a:solidFill>
                  <a:srgbClr val="6B6B6B"/>
                </a:solidFill>
                <a:latin typeface="Calibri"/>
              </a:rPr>
              <a:t>k = number of models, n = test cases</a:t>
            </a:r>
          </a:p>
          <a:p>
            <a:pPr algn="l">
              <a:spcAft>
                <a:spcPts val="0"/>
              </a:spcAft>
            </a:pPr>
            <a:r>
              <a:rPr sz="1100" b="0" i="0">
                <a:solidFill>
                  <a:srgbClr val="6B6B6B"/>
                </a:solidFill>
                <a:latin typeface="Calibri"/>
              </a:rPr>
              <a:t>q</a:t>
            </a:r>
            <a:r>
              <a:rPr sz="1100" b="1" i="0" baseline="-25000">
                <a:solidFill>
                  <a:srgbClr val="6B6B6B"/>
                </a:solidFill>
                <a:latin typeface="Calibri"/>
              </a:rPr>
              <a:t>α</a:t>
            </a:r>
            <a:r>
              <a:rPr sz="1100" b="0" i="0">
                <a:solidFill>
                  <a:srgbClr val="6B6B6B"/>
                </a:solidFill>
                <a:latin typeface="Calibri"/>
              </a:rPr>
              <a:t> = critical value (α = 0.05)</a:t>
            </a:r>
          </a:p>
        </p:txBody>
      </p:sp>
      <p:sp>
        <p:nvSpPr>
          <p:cNvPr id="17" name="TextBox 16"/>
          <p:cNvSpPr txBox="1"/>
          <p:nvPr/>
        </p:nvSpPr>
        <p:spPr>
          <a:xfrm>
            <a:off x="6711696" y="2944368"/>
            <a:ext cx="4800600" cy="502920"/>
          </a:xfrm>
          <a:prstGeom prst="rect">
            <a:avLst/>
          </a:prstGeom>
          <a:noFill/>
        </p:spPr>
        <p:txBody>
          <a:bodyPr wrap="square" anchor="t" lIns="45720" rIns="45720" tIns="18288" bIns="18288">
            <a:spAutoFit/>
          </a:bodyPr>
          <a:lstStyle/>
          <a:p>
            <a:pPr algn="l">
              <a:spcAft>
                <a:spcPts val="300"/>
              </a:spcAft>
            </a:pPr>
            <a:r>
              <a:rPr sz="1350" b="0" i="0">
                <a:solidFill>
                  <a:srgbClr val="262626"/>
                </a:solidFill>
                <a:latin typeface="Calibri"/>
              </a:rPr>
              <a:t>3. Grey band = best model’s interval. A model whose interval stays above it is significantly worse.</a:t>
            </a:r>
          </a:p>
        </p:txBody>
      </p:sp>
      <p:pic>
        <p:nvPicPr>
          <p:cNvPr id="18" name="Picture 17" descr="image.png"/>
          <p:cNvPicPr>
            <a:picLocks noChangeAspect="1"/>
          </p:cNvPicPr>
          <p:nvPr/>
        </p:nvPicPr>
        <p:blipFill>
          <a:blip r:embed="rId7"/>
          <a:stretch>
            <a:fillRect/>
          </a:stretch>
        </p:blipFill>
        <p:spPr>
          <a:xfrm>
            <a:off x="6711696" y="3566160"/>
            <a:ext cx="4800600" cy="1697182"/>
          </a:xfrm>
          <a:prstGeom prst="rect">
            <a:avLst/>
          </a:prstGeom>
        </p:spPr>
      </p:pic>
      <p:sp>
        <p:nvSpPr>
          <p:cNvPr id="19" name="TextBox 18"/>
          <p:cNvSpPr txBox="1"/>
          <p:nvPr/>
        </p:nvSpPr>
        <p:spPr>
          <a:xfrm>
            <a:off x="548640" y="5614416"/>
            <a:ext cx="11064240" cy="256032"/>
          </a:xfrm>
          <a:prstGeom prst="rect">
            <a:avLst/>
          </a:prstGeom>
          <a:noFill/>
        </p:spPr>
        <p:txBody>
          <a:bodyPr wrap="square" anchor="t" lIns="45720" rIns="45720" tIns="18288" bIns="18288">
            <a:spAutoFit/>
          </a:bodyPr>
          <a:lstStyle/>
          <a:p>
            <a:pPr algn="l">
              <a:spcAft>
                <a:spcPts val="300"/>
              </a:spcAft>
            </a:pPr>
            <a:r>
              <a:rPr sz="1050" b="0" i="1">
                <a:solidFill>
                  <a:srgbClr val="262626"/>
                </a:solidFill>
                <a:latin typeface="Calibri"/>
              </a:rPr>
              <a:t>Chart is a schematic with made-up models to show how the test is read; no results from the paper are shown.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Strengths, Limitations and Future Work</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19</a:t>
            </a:r>
          </a:p>
        </p:txBody>
      </p:sp>
      <p:sp>
        <p:nvSpPr>
          <p:cNvPr id="6" name="Rectangle 5"/>
          <p:cNvSpPr/>
          <p:nvPr/>
        </p:nvSpPr>
        <p:spPr>
          <a:xfrm>
            <a:off x="548640" y="1325880"/>
            <a:ext cx="3520440" cy="484632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dirty="0">
                <a:solidFill>
                  <a:srgbClr val="1F3A5F"/>
                </a:solidFill>
                <a:latin typeface="Calibri"/>
              </a:rPr>
              <a:t>Strengths</a:t>
            </a:r>
          </a:p>
          <a:p>
            <a:pPr algn="l">
              <a:spcBef>
                <a:spcPts val="400"/>
              </a:spcBef>
            </a:pPr>
            <a:r>
              <a:rPr sz="1500" b="0" i="0" dirty="0">
                <a:solidFill>
                  <a:srgbClr val="262626"/>
                </a:solidFill>
                <a:latin typeface="Calibri"/>
              </a:rPr>
              <a:t>Multiscale view: MODWT splits the signal into time scales</a:t>
            </a:r>
          </a:p>
          <a:p>
            <a:pPr algn="l">
              <a:spcBef>
                <a:spcPts val="400"/>
              </a:spcBef>
            </a:pPr>
            <a:r>
              <a:rPr sz="1500" b="0" i="0" dirty="0">
                <a:solidFill>
                  <a:srgbClr val="262626"/>
                </a:solidFill>
                <a:latin typeface="Calibri"/>
              </a:rPr>
              <a:t>Nonlinear forecasting: CatBoost per component</a:t>
            </a:r>
          </a:p>
          <a:p>
            <a:pPr algn="l">
              <a:spcBef>
                <a:spcPts val="400"/>
              </a:spcBef>
            </a:pPr>
            <a:r>
              <a:rPr sz="1500" b="0" i="0" dirty="0">
                <a:solidFill>
                  <a:srgbClr val="262626"/>
                </a:solidFill>
                <a:latin typeface="Calibri"/>
              </a:rPr>
              <a:t>Uncertainty: conformal prediction intervals</a:t>
            </a:r>
          </a:p>
          <a:p>
            <a:pPr algn="l">
              <a:spcBef>
                <a:spcPts val="400"/>
              </a:spcBef>
            </a:pPr>
            <a:r>
              <a:rPr sz="1500" b="0" i="0" dirty="0">
                <a:solidFill>
                  <a:srgbClr val="262626"/>
                </a:solidFill>
                <a:latin typeface="Calibri"/>
              </a:rPr>
              <a:t>Compared with multiple ML and deep learning baselines</a:t>
            </a:r>
          </a:p>
        </p:txBody>
      </p:sp>
      <p:sp>
        <p:nvSpPr>
          <p:cNvPr id="7" name="Rectangle 6"/>
          <p:cNvSpPr/>
          <p:nvPr/>
        </p:nvSpPr>
        <p:spPr>
          <a:xfrm>
            <a:off x="4325112" y="1325880"/>
            <a:ext cx="3520440" cy="484632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a:solidFill>
                  <a:srgbClr val="1F3A5F"/>
                </a:solidFill>
                <a:latin typeface="Calibri"/>
              </a:rPr>
              <a:t>Limitations</a:t>
            </a:r>
          </a:p>
          <a:p>
            <a:pPr algn="l">
              <a:spcBef>
                <a:spcPts val="400"/>
              </a:spcBef>
            </a:pPr>
            <a:r>
              <a:rPr sz="1500" b="0" i="0">
                <a:solidFill>
                  <a:srgbClr val="262626"/>
                </a:solidFill>
                <a:latin typeface="Calibri"/>
              </a:rPr>
              <a:t>1. Both datasets from Meghalaya only</a:t>
            </a:r>
          </a:p>
          <a:p>
            <a:pPr algn="l">
              <a:spcBef>
                <a:spcPts val="400"/>
              </a:spcBef>
            </a:pPr>
            <a:r>
              <a:rPr sz="1500" b="0" i="0">
                <a:solidFill>
                  <a:srgbClr val="262626"/>
                </a:solidFill>
                <a:latin typeface="Calibri"/>
              </a:rPr>
              <a:t>2. No spatial links between sensor locations</a:t>
            </a:r>
          </a:p>
          <a:p>
            <a:pPr algn="l">
              <a:spcBef>
                <a:spcPts val="400"/>
              </a:spcBef>
            </a:pPr>
            <a:r>
              <a:rPr sz="1500" b="0" i="0">
                <a:solidFill>
                  <a:srgbClr val="262626"/>
                </a:solidFill>
                <a:latin typeface="Calibri"/>
              </a:rPr>
              <a:t>3. Haar was the letter's only filter (D4 / LA8 now scored)</a:t>
            </a:r>
          </a:p>
          <a:p>
            <a:pPr algn="l">
              <a:spcBef>
                <a:spcPts val="400"/>
              </a:spcBef>
            </a:pPr>
            <a:r>
              <a:rPr sz="1500" b="0" i="0">
                <a:solidFill>
                  <a:srgbClr val="262626"/>
                </a:solidFill>
                <a:latin typeface="Calibri"/>
              </a:rPr>
              <a:t>4. Recursive forecasts can propagate errors</a:t>
            </a:r>
          </a:p>
          <a:p>
            <a:pPr algn="l">
              <a:spcBef>
                <a:spcPts val="400"/>
              </a:spcBef>
            </a:pPr>
            <a:r>
              <a:rPr sz="1500" b="0" i="0">
                <a:solidFill>
                  <a:srgbClr val="262626"/>
                </a:solidFill>
                <a:latin typeface="Calibri"/>
              </a:rPr>
              <a:t>5. No deployment-level latency / throughput benchmark</a:t>
            </a:r>
          </a:p>
        </p:txBody>
      </p:sp>
      <p:sp>
        <p:nvSpPr>
          <p:cNvPr id="8" name="Rectangle 7"/>
          <p:cNvSpPr/>
          <p:nvPr/>
        </p:nvSpPr>
        <p:spPr>
          <a:xfrm>
            <a:off x="8101583" y="1325880"/>
            <a:ext cx="3520440" cy="484632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a:solidFill>
                  <a:srgbClr val="1F3A5F"/>
                </a:solidFill>
                <a:latin typeface="Calibri"/>
              </a:rPr>
              <a:t>Future work</a:t>
            </a:r>
          </a:p>
          <a:p>
            <a:pPr algn="l">
              <a:spcBef>
                <a:spcPts val="400"/>
              </a:spcBef>
            </a:pPr>
            <a:r>
              <a:rPr sz="1500" b="0" i="0">
                <a:solidFill>
                  <a:srgbClr val="262626"/>
                </a:solidFill>
                <a:latin typeface="Calibri"/>
              </a:rPr>
              <a:t>Authors' stated direction: model spatial dependencies</a:t>
            </a:r>
          </a:p>
          <a:p>
            <a:pPr algn="l">
              <a:spcBef>
                <a:spcPts val="400"/>
              </a:spcBef>
            </a:pPr>
            <a:endParaRPr sz="1500" b="0" i="0">
              <a:solidFill>
                <a:srgbClr val="262626"/>
              </a:solidFill>
              <a:latin typeface="Calibri"/>
            </a:endParaRPr>
          </a:p>
        </p:txBody>
      </p:sp>
      <p:sp>
        <p:nvSpPr>
          <p:cNvPr id="9" name="Rectangle 8"/>
          <p:cNvSpPr/>
          <p:nvPr/>
        </p:nvSpPr>
        <p:spPr>
          <a:xfrm>
            <a:off x="8412480" y="3017520"/>
            <a:ext cx="1097280" cy="4572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1F3A5F"/>
                </a:solidFill>
                <a:latin typeface="Calibri"/>
              </a:rPr>
              <a:t>Station A</a:t>
            </a:r>
          </a:p>
        </p:txBody>
      </p:sp>
      <p:sp>
        <p:nvSpPr>
          <p:cNvPr id="10" name="Rectangle 9"/>
          <p:cNvSpPr/>
          <p:nvPr/>
        </p:nvSpPr>
        <p:spPr>
          <a:xfrm>
            <a:off x="10241280" y="3017520"/>
            <a:ext cx="1097280" cy="4572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1F3A5F"/>
                </a:solidFill>
                <a:latin typeface="Calibri"/>
              </a:rPr>
              <a:t>Station B</a:t>
            </a:r>
          </a:p>
        </p:txBody>
      </p:sp>
      <p:sp>
        <p:nvSpPr>
          <p:cNvPr id="11" name="Rectangle 10"/>
          <p:cNvSpPr/>
          <p:nvPr/>
        </p:nvSpPr>
        <p:spPr>
          <a:xfrm>
            <a:off x="9326880" y="3931920"/>
            <a:ext cx="1097280" cy="45720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1F3A5F"/>
                </a:solidFill>
                <a:latin typeface="Calibri"/>
              </a:rPr>
              <a:t>Station C</a:t>
            </a:r>
          </a:p>
        </p:txBody>
      </p:sp>
      <p:cxnSp>
        <p:nvCxnSpPr>
          <p:cNvPr id="12" name="Connector 11"/>
          <p:cNvCxnSpPr/>
          <p:nvPr/>
        </p:nvCxnSpPr>
        <p:spPr>
          <a:xfrm>
            <a:off x="9509760" y="3246120"/>
            <a:ext cx="731520" cy="0"/>
          </a:xfrm>
          <a:prstGeom prst="line">
            <a:avLst/>
          </a:prstGeom>
          <a:ln>
            <a:solidFill>
              <a:srgbClr val="6B6B6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961120" y="3474720"/>
            <a:ext cx="640080" cy="457200"/>
          </a:xfrm>
          <a:prstGeom prst="line">
            <a:avLst/>
          </a:prstGeom>
          <a:ln>
            <a:solidFill>
              <a:srgbClr val="6B6B6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0149840" y="3474720"/>
            <a:ext cx="640080" cy="457200"/>
          </a:xfrm>
          <a:prstGeom prst="line">
            <a:avLst/>
          </a:prstGeom>
          <a:ln>
            <a:solidFill>
              <a:srgbClr val="6B6B6B"/>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595360" y="4846320"/>
            <a:ext cx="2560320" cy="548640"/>
          </a:xfrm>
          <a:prstGeom prst="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FFFFFF"/>
                </a:solidFill>
                <a:latin typeface="Calibri"/>
              </a:rPr>
              <a:t>Spatial + temporal model</a:t>
            </a:r>
          </a:p>
        </p:txBody>
      </p:sp>
      <p:cxnSp>
        <p:nvCxnSpPr>
          <p:cNvPr id="16" name="Connector 15"/>
          <p:cNvCxnSpPr/>
          <p:nvPr/>
        </p:nvCxnSpPr>
        <p:spPr>
          <a:xfrm>
            <a:off x="9875520" y="4389120"/>
            <a:ext cx="0" cy="45720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457200"/>
          </a:xfrm>
          <a:prstGeom prst="rect">
            <a:avLst/>
          </a:prstGeom>
          <a:noFill/>
        </p:spPr>
        <p:txBody>
          <a:bodyPr wrap="square">
            <a:spAutoFit/>
          </a:bodyPr>
          <a:lstStyle/>
          <a:p>
            <a:pPr algn="l">
              <a:spcAft>
                <a:spcPts val="400"/>
              </a:spcAft>
            </a:pPr>
            <a:r>
              <a:rPr sz="2600" b="1">
                <a:solidFill>
                  <a:srgbClr val="1F3A5F"/>
                </a:solidFill>
                <a:latin typeface="Calibri"/>
              </a:rPr>
              <a:t>What we added on top of the letter</a:t>
            </a:r>
          </a:p>
        </p:txBody>
      </p:sp>
      <p:sp>
        <p:nvSpPr>
          <p:cNvPr id="3" name="Rectangle 2"/>
          <p:cNvSpPr/>
          <p:nvPr/>
        </p:nvSpPr>
        <p:spPr>
          <a:xfrm>
            <a:off x="411480" y="658368"/>
            <a:ext cx="11338560" cy="127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537960"/>
            <a:ext cx="9144000" cy="256032"/>
          </a:xfrm>
          <a:prstGeom prst="rect">
            <a:avLst/>
          </a:prstGeom>
          <a:noFill/>
        </p:spPr>
        <p:txBody>
          <a:bodyPr wrap="square">
            <a:spAutoFit/>
          </a:bodyPr>
          <a:lstStyle/>
          <a:p>
            <a:pPr algn="l">
              <a:spcAft>
                <a:spcPts val="400"/>
              </a:spcAft>
            </a:pPr>
            <a:r>
              <a:rPr sz="1100" b="0">
                <a:solidFill>
                  <a:srgbClr val="5A5A5A"/>
                </a:solidFill>
                <a:latin typeface="Calibri"/>
              </a:rPr>
              <a:t>WaveCatBoost: Hybrid Air Quality Forecasting</a:t>
            </a:r>
          </a:p>
        </p:txBody>
      </p:sp>
      <p:sp>
        <p:nvSpPr>
          <p:cNvPr id="5" name="TextBox 4"/>
          <p:cNvSpPr txBox="1"/>
          <p:nvPr/>
        </p:nvSpPr>
        <p:spPr>
          <a:xfrm>
            <a:off x="11155680" y="6537960"/>
            <a:ext cx="640080" cy="256032"/>
          </a:xfrm>
          <a:prstGeom prst="rect">
            <a:avLst/>
          </a:prstGeom>
          <a:noFill/>
        </p:spPr>
        <p:txBody>
          <a:bodyPr wrap="square">
            <a:spAutoFit/>
          </a:bodyPr>
          <a:lstStyle/>
          <a:p>
            <a:pPr algn="r">
              <a:spcAft>
                <a:spcPts val="400"/>
              </a:spcAft>
            </a:pPr>
            <a:r>
              <a:rPr sz="1100" b="0">
                <a:solidFill>
                  <a:srgbClr val="5A5A5A"/>
                </a:solidFill>
                <a:latin typeface="Calibri"/>
              </a:rPr>
              <a:t>20</a:t>
            </a:r>
          </a:p>
        </p:txBody>
      </p:sp>
      <p:sp>
        <p:nvSpPr>
          <p:cNvPr id="6" name="TextBox 5"/>
          <p:cNvSpPr txBox="1"/>
          <p:nvPr/>
        </p:nvSpPr>
        <p:spPr>
          <a:xfrm>
            <a:off x="502920" y="960120"/>
            <a:ext cx="11155680" cy="5303520"/>
          </a:xfrm>
          <a:prstGeom prst="rect">
            <a:avLst/>
          </a:prstGeom>
          <a:noFill/>
        </p:spPr>
        <p:txBody>
          <a:bodyPr wrap="square">
            <a:spAutoFit/>
          </a:bodyPr>
          <a:lstStyle/>
          <a:p>
            <a:pPr algn="l">
              <a:spcAft>
                <a:spcPts val="400"/>
              </a:spcAft>
            </a:pPr>
            <a:r>
              <a:rPr sz="1600" b="1">
                <a:solidFill>
                  <a:srgbClr val="1F3A5F"/>
                </a:solidFill>
                <a:latin typeface="Calibri"/>
              </a:rPr>
              <a:t>Paper pipeline (Sections 1–9 of analysis.Rmd)</a:t>
            </a:r>
          </a:p>
          <a:p>
            <a:pPr algn="l">
              <a:spcAft>
                <a:spcPts val="400"/>
              </a:spcAft>
            </a:pPr>
            <a:r>
              <a:rPr sz="1400" b="0">
                <a:solidFill>
                  <a:srgbClr val="222222"/>
                </a:solidFill>
                <a:latin typeface="Calibri"/>
              </a:rPr>
              <a:t>Missing values → hourly files → min-max on train → Haar MODWT → one model per D_k, S_K → IMODWT → conformal PI.</a:t>
            </a:r>
          </a:p>
          <a:p>
            <a:pPr algn="l">
              <a:spcAft>
                <a:spcPts val="400"/>
              </a:spcAft>
            </a:pPr>
            <a:r>
              <a:rPr sz="1000" b="0">
                <a:solidFill>
                  <a:srgbClr val="222222"/>
                </a:solidFill>
                <a:latin typeface="Calibri"/>
              </a:rPr>
              <a:t/>
            </a:r>
          </a:p>
          <a:p>
            <a:pPr algn="l">
              <a:spcAft>
                <a:spcPts val="400"/>
              </a:spcAft>
            </a:pPr>
            <a:r>
              <a:rPr sz="1600" b="1">
                <a:solidFill>
                  <a:srgbClr val="1F3A5F"/>
                </a:solidFill>
                <a:latin typeface="Calibri"/>
              </a:rPr>
              <a:t>Cross-questions, implemented in code and in this deck</a:t>
            </a:r>
          </a:p>
          <a:p>
            <a:pPr algn="l">
              <a:spcAft>
                <a:spcPts val="400"/>
              </a:spcAft>
            </a:pPr>
            <a:r>
              <a:rPr sz="1400" b="0">
                <a:solidFill>
                  <a:srgbClr val="222222"/>
                </a:solidFill>
                <a:latin typeface="Calibri"/>
              </a:rPr>
              <a:t>1. Fourier vs MODWT — global sinusoids cannot be lagged; Haar D_k,t can. Same WaveLGB head, 1-day MASE.</a:t>
            </a:r>
          </a:p>
          <a:p>
            <a:pPr algn="l">
              <a:spcAft>
                <a:spcPts val="400"/>
              </a:spcAft>
            </a:pPr>
            <a:r>
              <a:rPr sz="1400" b="0">
                <a:solidFill>
                  <a:srgbClr val="222222"/>
                </a:solidFill>
                <a:latin typeface="Calibri"/>
              </a:rPr>
              <a:t>2. EMD — data-adaptive IMFs as an alternative to any wavelet bank.</a:t>
            </a:r>
          </a:p>
          <a:p>
            <a:pPr algn="l">
              <a:spcAft>
                <a:spcPts val="400"/>
              </a:spcAft>
            </a:pPr>
            <a:r>
              <a:rPr sz="1400" b="0">
                <a:solidFill>
                  <a:srgbClr val="222222"/>
                </a:solidFill>
                <a:latin typeface="Calibri"/>
              </a:rPr>
              <a:t>3. Haar / D4 / LA8 — filter menu sits in the MODWT section; MASE comparison at the end.</a:t>
            </a:r>
          </a:p>
          <a:p>
            <a:pPr algn="l">
              <a:spcAft>
                <a:spcPts val="400"/>
              </a:spcAft>
            </a:pPr>
            <a:r>
              <a:rPr sz="1000" b="0">
                <a:solidFill>
                  <a:srgbClr val="222222"/>
                </a:solidFill>
                <a:latin typeface="Calibri"/>
              </a:rPr>
              <a:t/>
            </a:r>
          </a:p>
          <a:p>
            <a:pPr algn="l">
              <a:spcAft>
                <a:spcPts val="400"/>
              </a:spcAft>
            </a:pPr>
            <a:r>
              <a:rPr sz="1400" b="0">
                <a:solidFill>
                  <a:srgbClr val="5A5A5A"/>
                </a:solidFill>
                <a:latin typeface="Calibri"/>
              </a:rPr>
              <a:t>Interactive report: analysis.Rmd (RStudio → Run Document). Scores: run_extensions.R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457200"/>
          </a:xfrm>
          <a:prstGeom prst="rect">
            <a:avLst/>
          </a:prstGeom>
          <a:noFill/>
        </p:spPr>
        <p:txBody>
          <a:bodyPr wrap="square">
            <a:spAutoFit/>
          </a:bodyPr>
          <a:lstStyle/>
          <a:p>
            <a:pPr algn="l">
              <a:spcAft>
                <a:spcPts val="400"/>
              </a:spcAft>
            </a:pPr>
            <a:r>
              <a:rPr sz="2600" b="1">
                <a:solidFill>
                  <a:srgbClr val="1F3A5F"/>
                </a:solidFill>
                <a:latin typeface="Calibri"/>
              </a:rPr>
              <a:t>Why MODWT, not Fourier?</a:t>
            </a:r>
          </a:p>
        </p:txBody>
      </p:sp>
      <p:sp>
        <p:nvSpPr>
          <p:cNvPr id="3" name="Rectangle 2"/>
          <p:cNvSpPr/>
          <p:nvPr/>
        </p:nvSpPr>
        <p:spPr>
          <a:xfrm>
            <a:off x="411480" y="658368"/>
            <a:ext cx="11338560" cy="127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537960"/>
            <a:ext cx="9144000" cy="256032"/>
          </a:xfrm>
          <a:prstGeom prst="rect">
            <a:avLst/>
          </a:prstGeom>
          <a:noFill/>
        </p:spPr>
        <p:txBody>
          <a:bodyPr wrap="square">
            <a:spAutoFit/>
          </a:bodyPr>
          <a:lstStyle/>
          <a:p>
            <a:pPr algn="l">
              <a:spcAft>
                <a:spcPts val="400"/>
              </a:spcAft>
            </a:pPr>
            <a:r>
              <a:rPr sz="1100" b="0">
                <a:solidFill>
                  <a:srgbClr val="5A5A5A"/>
                </a:solidFill>
                <a:latin typeface="Calibri"/>
              </a:rPr>
              <a:t>WaveCatBoost: Hybrid Air Quality Forecasting</a:t>
            </a:r>
          </a:p>
        </p:txBody>
      </p:sp>
      <p:sp>
        <p:nvSpPr>
          <p:cNvPr id="5" name="TextBox 4"/>
          <p:cNvSpPr txBox="1"/>
          <p:nvPr/>
        </p:nvSpPr>
        <p:spPr>
          <a:xfrm>
            <a:off x="11155680" y="6537960"/>
            <a:ext cx="640080" cy="256032"/>
          </a:xfrm>
          <a:prstGeom prst="rect">
            <a:avLst/>
          </a:prstGeom>
          <a:noFill/>
        </p:spPr>
        <p:txBody>
          <a:bodyPr wrap="square">
            <a:spAutoFit/>
          </a:bodyPr>
          <a:lstStyle/>
          <a:p>
            <a:pPr algn="r">
              <a:spcAft>
                <a:spcPts val="400"/>
              </a:spcAft>
            </a:pPr>
            <a:r>
              <a:rPr sz="1100" b="0">
                <a:solidFill>
                  <a:srgbClr val="5A5A5A"/>
                </a:solidFill>
                <a:latin typeface="Calibri"/>
              </a:rPr>
              <a:t>21</a:t>
            </a:r>
          </a:p>
        </p:txBody>
      </p:sp>
      <p:sp>
        <p:nvSpPr>
          <p:cNvPr id="6" name="TextBox 5"/>
          <p:cNvSpPr txBox="1"/>
          <p:nvPr/>
        </p:nvSpPr>
        <p:spPr>
          <a:xfrm>
            <a:off x="411480" y="804672"/>
            <a:ext cx="11338560" cy="365760"/>
          </a:xfrm>
          <a:prstGeom prst="rect">
            <a:avLst/>
          </a:prstGeom>
          <a:noFill/>
        </p:spPr>
        <p:txBody>
          <a:bodyPr wrap="square">
            <a:spAutoFit/>
          </a:bodyPr>
          <a:lstStyle/>
          <a:p>
            <a:pPr algn="l">
              <a:spcAft>
                <a:spcPts val="400"/>
              </a:spcAft>
            </a:pPr>
            <a:r>
              <a:rPr sz="1500" b="0">
                <a:solidFill>
                  <a:srgbClr val="5A5A5A"/>
                </a:solidFill>
                <a:latin typeface="Calibri"/>
              </a:rPr>
              <a:t>A spike at hour 1000 enters every Fourier bin. Haar D1 keeps the hour it happened.</a:t>
            </a:r>
          </a:p>
        </p:txBody>
      </p:sp>
      <p:sp>
        <p:nvSpPr>
          <p:cNvPr id="7" name="Rectangle 6"/>
          <p:cNvSpPr/>
          <p:nvPr/>
        </p:nvSpPr>
        <p:spPr>
          <a:xfrm>
            <a:off x="411480" y="1280160"/>
            <a:ext cx="5532120" cy="4937760"/>
          </a:xfrm>
          <a:prstGeom prst="rect">
            <a:avLst/>
          </a:prstGeom>
          <a:solidFill>
            <a:srgbClr val="F7F9FB"/>
          </a:solidFill>
          <a:ln w="9525">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280160"/>
            <a:ext cx="5532120" cy="4937760"/>
          </a:xfrm>
          <a:prstGeom prst="rect">
            <a:avLst/>
          </a:prstGeom>
          <a:solidFill>
            <a:srgbClr val="F7F9FB"/>
          </a:solidFill>
          <a:ln w="9525">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417320"/>
            <a:ext cx="5212080" cy="365760"/>
          </a:xfrm>
          <a:prstGeom prst="rect">
            <a:avLst/>
          </a:prstGeom>
          <a:noFill/>
        </p:spPr>
        <p:txBody>
          <a:bodyPr wrap="square">
            <a:spAutoFit/>
          </a:bodyPr>
          <a:lstStyle/>
          <a:p>
            <a:pPr algn="l">
              <a:spcAft>
                <a:spcPts val="400"/>
              </a:spcAft>
            </a:pPr>
            <a:r>
              <a:rPr sz="1800" b="1">
                <a:solidFill>
                  <a:srgbClr val="A64B2A"/>
                </a:solidFill>
                <a:latin typeface="Calibri"/>
              </a:rPr>
              <a:t>Fourier (FFT)</a:t>
            </a:r>
          </a:p>
        </p:txBody>
      </p:sp>
      <p:sp>
        <p:nvSpPr>
          <p:cNvPr id="10" name="TextBox 9"/>
          <p:cNvSpPr txBox="1"/>
          <p:nvPr/>
        </p:nvSpPr>
        <p:spPr>
          <a:xfrm>
            <a:off x="6400800" y="1417320"/>
            <a:ext cx="5212080" cy="365760"/>
          </a:xfrm>
          <a:prstGeom prst="rect">
            <a:avLst/>
          </a:prstGeom>
          <a:noFill/>
        </p:spPr>
        <p:txBody>
          <a:bodyPr wrap="square">
            <a:spAutoFit/>
          </a:bodyPr>
          <a:lstStyle/>
          <a:p>
            <a:pPr algn="l">
              <a:spcAft>
                <a:spcPts val="400"/>
              </a:spcAft>
            </a:pPr>
            <a:r>
              <a:rPr sz="1800" b="1">
                <a:solidFill>
                  <a:srgbClr val="1F3A5F"/>
                </a:solidFill>
                <a:latin typeface="Calibri"/>
              </a:rPr>
              <a:t>Haar MODWT  (letter)</a:t>
            </a:r>
          </a:p>
        </p:txBody>
      </p:sp>
      <p:sp>
        <p:nvSpPr>
          <p:cNvPr id="11" name="TextBox 10"/>
          <p:cNvSpPr txBox="1"/>
          <p:nvPr/>
        </p:nvSpPr>
        <p:spPr>
          <a:xfrm>
            <a:off x="594360" y="1920240"/>
            <a:ext cx="5212080" cy="3931920"/>
          </a:xfrm>
          <a:prstGeom prst="rect">
            <a:avLst/>
          </a:prstGeom>
          <a:noFill/>
        </p:spPr>
        <p:txBody>
          <a:bodyPr wrap="square">
            <a:spAutoFit/>
          </a:bodyPr>
          <a:lstStyle/>
          <a:p>
            <a:pPr algn="l">
              <a:spcAft>
                <a:spcPts val="400"/>
              </a:spcAft>
            </a:pPr>
            <a:r>
              <a:rPr sz="1500" b="0">
                <a:solidFill>
                  <a:srgbClr val="222222"/>
                </a:solidFill>
                <a:latin typeface="Calibri"/>
              </a:rPr>
              <a:t>No time index — one coefficient per frequency</a:t>
            </a:r>
          </a:p>
          <a:p>
            <a:pPr algn="l">
              <a:spcAft>
                <a:spcPts val="400"/>
              </a:spcAft>
            </a:pPr>
            <a:r>
              <a:rPr sz="1500" b="0">
                <a:solidFill>
                  <a:srgbClr val="222222"/>
                </a:solidFill>
                <a:latin typeface="Calibri"/>
              </a:rPr>
              <a:t>A pollution spike is smeared across the whole window</a:t>
            </a:r>
          </a:p>
          <a:p>
            <a:pPr algn="l">
              <a:spcAft>
                <a:spcPts val="400"/>
              </a:spcAft>
            </a:pPr>
            <a:r>
              <a:rPr sz="1500" b="0">
                <a:solidFill>
                  <a:srgbClr val="222222"/>
                </a:solidFill>
                <a:latin typeface="Calibri"/>
              </a:rPr>
              <a:t>Assumes the same frequencies hold in winter and monsoon</a:t>
            </a:r>
          </a:p>
          <a:p>
            <a:pPr algn="l">
              <a:spcAft>
                <a:spcPts val="400"/>
              </a:spcAft>
            </a:pPr>
            <a:r>
              <a:rPr sz="1500" b="0">
                <a:solidFill>
                  <a:srgbClr val="222222"/>
                </a:solidFill>
                <a:latin typeface="Calibri"/>
              </a:rPr>
              <a:t>Cannot build lag features F(ω, t−1) for a tree</a:t>
            </a:r>
          </a:p>
          <a:p>
            <a:pPr algn="l">
              <a:spcAft>
                <a:spcPts val="400"/>
              </a:spcAft>
            </a:pPr>
            <a:r>
              <a:rPr sz="1500" b="0">
                <a:solidFill>
                  <a:srgbClr val="222222"/>
                </a:solidFill>
                <a:latin typeface="Calibri"/>
              </a:rPr>
              <a:t>Reconstruction: IFFT of kept bins</a:t>
            </a:r>
          </a:p>
        </p:txBody>
      </p:sp>
      <p:sp>
        <p:nvSpPr>
          <p:cNvPr id="12" name="TextBox 11"/>
          <p:cNvSpPr txBox="1"/>
          <p:nvPr/>
        </p:nvSpPr>
        <p:spPr>
          <a:xfrm>
            <a:off x="6400800" y="1920240"/>
            <a:ext cx="5212080" cy="3931920"/>
          </a:xfrm>
          <a:prstGeom prst="rect">
            <a:avLst/>
          </a:prstGeom>
          <a:noFill/>
        </p:spPr>
        <p:txBody>
          <a:bodyPr wrap="square">
            <a:spAutoFit/>
          </a:bodyPr>
          <a:lstStyle/>
          <a:p>
            <a:pPr algn="l">
              <a:spcAft>
                <a:spcPts val="400"/>
              </a:spcAft>
            </a:pPr>
            <a:r>
              <a:rPr sz="1500" b="0">
                <a:solidFill>
                  <a:srgbClr val="222222"/>
                </a:solidFill>
                <a:latin typeface="Calibri"/>
              </a:rPr>
              <a:t>D_k,t is indexed by time t</a:t>
            </a:r>
          </a:p>
          <a:p>
            <a:pPr algn="l">
              <a:spcAft>
                <a:spcPts val="400"/>
              </a:spcAft>
            </a:pPr>
            <a:r>
              <a:rPr sz="1500" b="0">
                <a:solidFill>
                  <a:srgbClr val="222222"/>
                </a:solidFill>
                <a:latin typeface="Calibri"/>
              </a:rPr>
              <a:t>The same spike sits in D1 at that hour</a:t>
            </a:r>
          </a:p>
          <a:p>
            <a:pPr algn="l">
              <a:spcAft>
                <a:spcPts val="400"/>
              </a:spcAft>
            </a:pPr>
            <a:r>
              <a:rPr sz="1500" b="0">
                <a:solidFill>
                  <a:srgbClr val="222222"/>
                </a:solidFill>
                <a:latin typeface="Calibri"/>
              </a:rPr>
              <a:t>Local in time, so a level shift does not leak into every coefficient</a:t>
            </a:r>
          </a:p>
          <a:p>
            <a:pPr algn="l">
              <a:spcAft>
                <a:spcPts val="400"/>
              </a:spcAft>
            </a:pPr>
            <a:r>
              <a:rPr sz="1500" b="0">
                <a:solidFill>
                  <a:srgbClr val="222222"/>
                </a:solidFill>
                <a:latin typeface="Calibri"/>
              </a:rPr>
              <a:t>Lag D_k,t−1 lines up with Y_t  →  one CatBoost per component</a:t>
            </a:r>
          </a:p>
          <a:p>
            <a:pPr algn="l">
              <a:spcAft>
                <a:spcPts val="400"/>
              </a:spcAft>
            </a:pPr>
            <a:r>
              <a:rPr sz="1500" b="0">
                <a:solidFill>
                  <a:srgbClr val="222222"/>
                </a:solidFill>
                <a:latin typeface="Calibri"/>
              </a:rPr>
              <a:t>Y_t = Σ D_k,t + S_K,t   (additive MRA / IMODWT)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457200"/>
          </a:xfrm>
          <a:prstGeom prst="rect">
            <a:avLst/>
          </a:prstGeom>
          <a:noFill/>
        </p:spPr>
        <p:txBody>
          <a:bodyPr wrap="square">
            <a:spAutoFit/>
          </a:bodyPr>
          <a:lstStyle/>
          <a:p>
            <a:pPr algn="l">
              <a:spcAft>
                <a:spcPts val="400"/>
              </a:spcAft>
            </a:pPr>
            <a:r>
              <a:rPr sz="2600" b="1">
                <a:solidFill>
                  <a:srgbClr val="1F3A5F"/>
                </a:solidFill>
                <a:latin typeface="Calibri"/>
              </a:rPr>
              <a:t>Other wavelet filters: Haar, D4, LA8</a:t>
            </a:r>
          </a:p>
        </p:txBody>
      </p:sp>
      <p:sp>
        <p:nvSpPr>
          <p:cNvPr id="3" name="Rectangle 2"/>
          <p:cNvSpPr/>
          <p:nvPr/>
        </p:nvSpPr>
        <p:spPr>
          <a:xfrm>
            <a:off x="411480" y="658368"/>
            <a:ext cx="11338560" cy="127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537960"/>
            <a:ext cx="9144000" cy="256032"/>
          </a:xfrm>
          <a:prstGeom prst="rect">
            <a:avLst/>
          </a:prstGeom>
          <a:noFill/>
        </p:spPr>
        <p:txBody>
          <a:bodyPr wrap="square">
            <a:spAutoFit/>
          </a:bodyPr>
          <a:lstStyle/>
          <a:p>
            <a:pPr algn="l">
              <a:spcAft>
                <a:spcPts val="400"/>
              </a:spcAft>
            </a:pPr>
            <a:r>
              <a:rPr sz="1100" b="0">
                <a:solidFill>
                  <a:srgbClr val="5A5A5A"/>
                </a:solidFill>
                <a:latin typeface="Calibri"/>
              </a:rPr>
              <a:t>WaveCatBoost: Hybrid Air Quality Forecasting</a:t>
            </a:r>
          </a:p>
        </p:txBody>
      </p:sp>
      <p:sp>
        <p:nvSpPr>
          <p:cNvPr id="5" name="TextBox 4"/>
          <p:cNvSpPr txBox="1"/>
          <p:nvPr/>
        </p:nvSpPr>
        <p:spPr>
          <a:xfrm>
            <a:off x="11155680" y="6537960"/>
            <a:ext cx="640080" cy="256032"/>
          </a:xfrm>
          <a:prstGeom prst="rect">
            <a:avLst/>
          </a:prstGeom>
          <a:noFill/>
        </p:spPr>
        <p:txBody>
          <a:bodyPr wrap="square">
            <a:spAutoFit/>
          </a:bodyPr>
          <a:lstStyle/>
          <a:p>
            <a:pPr algn="r">
              <a:spcAft>
                <a:spcPts val="400"/>
              </a:spcAft>
            </a:pPr>
            <a:r>
              <a:rPr sz="1100" b="0">
                <a:solidFill>
                  <a:srgbClr val="5A5A5A"/>
                </a:solidFill>
                <a:latin typeface="Calibri"/>
              </a:rPr>
              <a:t>22</a:t>
            </a:r>
          </a:p>
        </p:txBody>
      </p:sp>
      <p:sp>
        <p:nvSpPr>
          <p:cNvPr id="6" name="TextBox 5"/>
          <p:cNvSpPr txBox="1"/>
          <p:nvPr/>
        </p:nvSpPr>
        <p:spPr>
          <a:xfrm>
            <a:off x="411480" y="804672"/>
            <a:ext cx="11338560" cy="411480"/>
          </a:xfrm>
          <a:prstGeom prst="rect">
            <a:avLst/>
          </a:prstGeom>
          <a:noFill/>
        </p:spPr>
        <p:txBody>
          <a:bodyPr wrap="square">
            <a:spAutoFit/>
          </a:bodyPr>
          <a:lstStyle/>
          <a:p>
            <a:pPr algn="l">
              <a:spcAft>
                <a:spcPts val="400"/>
              </a:spcAft>
            </a:pPr>
            <a:r>
              <a:rPr sz="1500" b="0">
                <a:solidFill>
                  <a:srgbClr val="5A5A5A"/>
                </a:solidFill>
                <a:latin typeface="Calibri"/>
              </a:rPr>
              <a:t>The letter uses Haar (two taps). D4 (4 taps) and LA8 (8 taps) are smoother octave filters. Reconstruction is still Y_t = Σ D_k,t + S_K,t.</a:t>
            </a:r>
          </a:p>
        </p:txBody>
      </p:sp>
      <p:sp>
        <p:nvSpPr>
          <p:cNvPr id="7" name="Rectangle 6"/>
          <p:cNvSpPr/>
          <p:nvPr/>
        </p:nvSpPr>
        <p:spPr>
          <a:xfrm>
            <a:off x="411480" y="1325880"/>
            <a:ext cx="3657600" cy="2148840"/>
          </a:xfrm>
          <a:prstGeom prst="rect">
            <a:avLst/>
          </a:prstGeom>
          <a:solidFill>
            <a:srgbClr val="EEF2F7"/>
          </a:solidFill>
          <a:ln w="9525">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51960" y="1325880"/>
            <a:ext cx="3657600" cy="2148840"/>
          </a:xfrm>
          <a:prstGeom prst="rect">
            <a:avLst/>
          </a:prstGeom>
          <a:solidFill>
            <a:srgbClr val="F8F0EC"/>
          </a:solidFill>
          <a:ln w="9525">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92440" y="1325880"/>
            <a:ext cx="3657600" cy="2148840"/>
          </a:xfrm>
          <a:prstGeom prst="rect">
            <a:avLst/>
          </a:prstGeom>
          <a:solidFill>
            <a:srgbClr val="ECF4EF"/>
          </a:solidFill>
          <a:ln w="9525">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17320"/>
            <a:ext cx="3383280" cy="1920240"/>
          </a:xfrm>
          <a:prstGeom prst="rect">
            <a:avLst/>
          </a:prstGeom>
          <a:noFill/>
        </p:spPr>
        <p:txBody>
          <a:bodyPr wrap="square">
            <a:spAutoFit/>
          </a:bodyPr>
          <a:lstStyle/>
          <a:p>
            <a:pPr algn="l">
              <a:spcAft>
                <a:spcPts val="400"/>
              </a:spcAft>
            </a:pPr>
            <a:r>
              <a:rPr sz="1600" b="1">
                <a:solidFill>
                  <a:srgbClr val="1F3A5F"/>
                </a:solidFill>
                <a:latin typeface="Calibri"/>
              </a:rPr>
              <a:t>Haar  (paper)</a:t>
            </a:r>
          </a:p>
          <a:p>
            <a:pPr algn="l">
              <a:spcAft>
                <a:spcPts val="400"/>
              </a:spcAft>
            </a:pPr>
            <a:r>
              <a:rPr sz="1400" b="0">
                <a:solidFill>
                  <a:srgbClr val="222222"/>
                </a:solidFill>
                <a:latin typeface="Calibri"/>
              </a:rPr>
              <a:t>p = ½(1, −1),  q = ½(1, 1)</a:t>
            </a:r>
          </a:p>
          <a:p>
            <a:pPr algn="l">
              <a:spcAft>
                <a:spcPts val="400"/>
              </a:spcAft>
            </a:pPr>
            <a:r>
              <a:rPr sz="1400" b="0">
                <a:solidFill>
                  <a:srgbClr val="222222"/>
                </a:solidFill>
                <a:latin typeface="Calibri"/>
              </a:rPr>
              <a:t>Shortest support. D1 is jagged.</a:t>
            </a:r>
          </a:p>
          <a:p>
            <a:pPr algn="l">
              <a:spcAft>
                <a:spcPts val="400"/>
              </a:spcAft>
            </a:pPr>
            <a:r>
              <a:rPr sz="1400" b="0">
                <a:solidFill>
                  <a:srgbClr val="222222"/>
                </a:solidFill>
                <a:latin typeface="Calibri"/>
              </a:rPr>
              <a:t>Default in WaveCatBoost.</a:t>
            </a:r>
          </a:p>
        </p:txBody>
      </p:sp>
      <p:sp>
        <p:nvSpPr>
          <p:cNvPr id="11" name="TextBox 10"/>
          <p:cNvSpPr txBox="1"/>
          <p:nvPr/>
        </p:nvSpPr>
        <p:spPr>
          <a:xfrm>
            <a:off x="4389120" y="1417320"/>
            <a:ext cx="3383280" cy="1920240"/>
          </a:xfrm>
          <a:prstGeom prst="rect">
            <a:avLst/>
          </a:prstGeom>
          <a:noFill/>
        </p:spPr>
        <p:txBody>
          <a:bodyPr wrap="square">
            <a:spAutoFit/>
          </a:bodyPr>
          <a:lstStyle/>
          <a:p>
            <a:pPr algn="l">
              <a:spcAft>
                <a:spcPts val="400"/>
              </a:spcAft>
            </a:pPr>
            <a:r>
              <a:rPr sz="1600" b="1">
                <a:solidFill>
                  <a:srgbClr val="A64B2A"/>
                </a:solidFill>
                <a:latin typeface="Calibri"/>
              </a:rPr>
              <a:t>Daubechies-4</a:t>
            </a:r>
          </a:p>
          <a:p>
            <a:pPr algn="l">
              <a:spcAft>
                <a:spcPts val="400"/>
              </a:spcAft>
            </a:pPr>
            <a:r>
              <a:rPr sz="1400" b="0">
                <a:solidFill>
                  <a:srgbClr val="222222"/>
                </a:solidFill>
                <a:latin typeface="Calibri"/>
              </a:rPr>
              <a:t>4 taps, cleaner band split</a:t>
            </a:r>
          </a:p>
          <a:p>
            <a:pPr algn="l">
              <a:spcAft>
                <a:spcPts val="400"/>
              </a:spcAft>
            </a:pPr>
            <a:r>
              <a:rPr sz="1400" b="0">
                <a:solidFill>
                  <a:srgbClr val="222222"/>
                </a:solidFill>
                <a:latin typeface="Calibri"/>
              </a:rPr>
              <a:t>A spike in D1 lasts a few extra hours.</a:t>
            </a:r>
          </a:p>
          <a:p>
            <a:pPr algn="l">
              <a:spcAft>
                <a:spcPts val="400"/>
              </a:spcAft>
            </a:pPr>
            <a:r>
              <a:rPr sz="1400" b="0">
                <a:solidFill>
                  <a:srgbClr val="222222"/>
                </a:solidFill>
                <a:latin typeface="Calibri"/>
              </a:rPr>
              <a:t>Extension — same WaveLGB head.</a:t>
            </a:r>
          </a:p>
        </p:txBody>
      </p:sp>
      <p:sp>
        <p:nvSpPr>
          <p:cNvPr id="12" name="TextBox 11"/>
          <p:cNvSpPr txBox="1"/>
          <p:nvPr/>
        </p:nvSpPr>
        <p:spPr>
          <a:xfrm>
            <a:off x="8229600" y="1417320"/>
            <a:ext cx="3383280" cy="1920240"/>
          </a:xfrm>
          <a:prstGeom prst="rect">
            <a:avLst/>
          </a:prstGeom>
          <a:noFill/>
        </p:spPr>
        <p:txBody>
          <a:bodyPr wrap="square">
            <a:spAutoFit/>
          </a:bodyPr>
          <a:lstStyle/>
          <a:p>
            <a:pPr algn="l">
              <a:spcAft>
                <a:spcPts val="400"/>
              </a:spcAft>
            </a:pPr>
            <a:r>
              <a:rPr sz="1600" b="1">
                <a:solidFill>
                  <a:srgbClr val="2E6B4F"/>
                </a:solidFill>
                <a:latin typeface="Calibri"/>
              </a:rPr>
              <a:t>Least-Asymmetric-8</a:t>
            </a:r>
          </a:p>
          <a:p>
            <a:pPr algn="l">
              <a:spcAft>
                <a:spcPts val="400"/>
              </a:spcAft>
            </a:pPr>
            <a:r>
              <a:rPr sz="1400" b="0">
                <a:solidFill>
                  <a:srgbClr val="222222"/>
                </a:solidFill>
                <a:latin typeface="Calibri"/>
              </a:rPr>
              <a:t>8 taps, near-linear phase</a:t>
            </a:r>
          </a:p>
          <a:p>
            <a:pPr algn="l">
              <a:spcAft>
                <a:spcPts val="400"/>
              </a:spcAft>
            </a:pPr>
            <a:r>
              <a:rPr sz="1400" b="0">
                <a:solidFill>
                  <a:srgbClr val="222222"/>
                </a:solidFill>
                <a:latin typeface="Calibri"/>
              </a:rPr>
              <a:t>Smoothest D_k of the three.</a:t>
            </a:r>
          </a:p>
          <a:p>
            <a:pPr algn="l">
              <a:spcAft>
                <a:spcPts val="400"/>
              </a:spcAft>
            </a:pPr>
            <a:r>
              <a:rPr sz="1400" b="0">
                <a:solidFill>
                  <a:srgbClr val="222222"/>
                </a:solidFill>
                <a:latin typeface="Calibri"/>
              </a:rPr>
              <a:t>Extension — same WaveLGB head.</a:t>
            </a:r>
          </a:p>
        </p:txBody>
      </p:sp>
      <p:sp>
        <p:nvSpPr>
          <p:cNvPr id="13" name="TextBox 12"/>
          <p:cNvSpPr txBox="1"/>
          <p:nvPr/>
        </p:nvSpPr>
        <p:spPr>
          <a:xfrm>
            <a:off x="411480" y="3611880"/>
            <a:ext cx="11338560" cy="320040"/>
          </a:xfrm>
          <a:prstGeom prst="rect">
            <a:avLst/>
          </a:prstGeom>
          <a:noFill/>
        </p:spPr>
        <p:txBody>
          <a:bodyPr wrap="square">
            <a:spAutoFit/>
          </a:bodyPr>
          <a:lstStyle/>
          <a:p>
            <a:pPr algn="l">
              <a:spcAft>
                <a:spcPts val="400"/>
              </a:spcAft>
            </a:pPr>
            <a:r>
              <a:rPr sz="1400" b="1">
                <a:solidFill>
                  <a:srgbClr val="1F3A5F"/>
                </a:solidFill>
                <a:latin typeface="Calibri"/>
              </a:rPr>
              <a:t>WaveLGB MASE, 1-day horizon (lower is better). Same K, p, and split.</a:t>
            </a:r>
          </a:p>
        </p:txBody>
      </p:sp>
      <p:sp>
        <p:nvSpPr>
          <p:cNvPr id="14" name="TextBox 13"/>
          <p:cNvSpPr txBox="1"/>
          <p:nvPr/>
        </p:nvSpPr>
        <p:spPr>
          <a:xfrm>
            <a:off x="411480" y="3977639"/>
            <a:ext cx="11338560" cy="2194560"/>
          </a:xfrm>
          <a:prstGeom prst="rect">
            <a:avLst/>
          </a:prstGeom>
          <a:noFill/>
        </p:spPr>
        <p:txBody>
          <a:bodyPr wrap="square">
            <a:spAutoFit/>
          </a:bodyPr>
          <a:lstStyle/>
          <a:p>
            <a:pPr algn="l">
              <a:spcAft>
                <a:spcPts val="400"/>
              </a:spcAft>
            </a:pPr>
            <a:r>
              <a:rPr sz="1500" b="1">
                <a:solidFill>
                  <a:srgbClr val="1F3A5F"/>
                </a:solidFill>
                <a:latin typeface="Calibri"/>
              </a:rPr>
              <a:t>Series                  Haar     D4      LA8     Fourier</a:t>
            </a:r>
          </a:p>
          <a:p>
            <a:pPr algn="l">
              <a:spcAft>
                <a:spcPts val="400"/>
              </a:spcAft>
            </a:pPr>
            <a:r>
              <a:rPr sz="1500" b="0">
                <a:solidFill>
                  <a:srgbClr val="222222"/>
                </a:solidFill>
                <a:latin typeface="Calibri"/>
              </a:rPr>
              <a:t>CPCB PM2.5             1.031   1.250   1.112   1.272</a:t>
            </a:r>
          </a:p>
          <a:p>
            <a:pPr algn="l">
              <a:spcAft>
                <a:spcPts val="400"/>
              </a:spcAft>
            </a:pPr>
            <a:r>
              <a:rPr sz="1500" b="0">
                <a:solidFill>
                  <a:srgbClr val="222222"/>
                </a:solidFill>
                <a:latin typeface="Calibri"/>
              </a:rPr>
              <a:t>CPCB NO2               0.518   0.519   0.534   0.692</a:t>
            </a:r>
          </a:p>
          <a:p>
            <a:pPr algn="l">
              <a:spcAft>
                <a:spcPts val="400"/>
              </a:spcAft>
            </a:pPr>
            <a:r>
              <a:rPr sz="1500" b="0">
                <a:solidFill>
                  <a:srgbClr val="222222"/>
                </a:solidFill>
                <a:latin typeface="Calibri"/>
              </a:rPr>
              <a:t>ID1  PM2.5             0.360   0.414   0.476   0.473</a:t>
            </a:r>
          </a:p>
          <a:p>
            <a:pPr algn="l">
              <a:spcAft>
                <a:spcPts val="400"/>
              </a:spcAft>
            </a:pPr>
            <a:r>
              <a:rPr sz="1500" b="0">
                <a:solidFill>
                  <a:srgbClr val="222222"/>
                </a:solidFill>
                <a:latin typeface="Calibri"/>
              </a:rPr>
              <a:t>ID1  NO2               1.259   1.309   1.324   1.438</a:t>
            </a:r>
          </a:p>
          <a:p>
            <a:pPr algn="l">
              <a:spcAft>
                <a:spcPts val="400"/>
              </a:spcAft>
            </a:pPr>
            <a:r>
              <a:rPr sz="1400" b="0">
                <a:solidFill>
                  <a:srgbClr val="5A5A5A"/>
                </a:solidFill>
                <a:latin typeface="Calibri"/>
              </a:rPr>
              <a:t>Haar is lowest (or tied) on these 1-day cases. Extra taps clean the D_k plot, not the MASE.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457200"/>
          </a:xfrm>
          <a:prstGeom prst="rect">
            <a:avLst/>
          </a:prstGeom>
          <a:noFill/>
        </p:spPr>
        <p:txBody>
          <a:bodyPr wrap="square">
            <a:spAutoFit/>
          </a:bodyPr>
          <a:lstStyle/>
          <a:p>
            <a:pPr algn="l">
              <a:spcAft>
                <a:spcPts val="400"/>
              </a:spcAft>
            </a:pPr>
            <a:r>
              <a:rPr sz="2600" b="1">
                <a:solidFill>
                  <a:srgbClr val="1F3A5F"/>
                </a:solidFill>
                <a:latin typeface="Calibri"/>
              </a:rPr>
              <a:t>Another decomposition: Empirical Mode Decomposition</a:t>
            </a:r>
          </a:p>
        </p:txBody>
      </p:sp>
      <p:sp>
        <p:nvSpPr>
          <p:cNvPr id="3" name="Rectangle 2"/>
          <p:cNvSpPr/>
          <p:nvPr/>
        </p:nvSpPr>
        <p:spPr>
          <a:xfrm>
            <a:off x="411480" y="658368"/>
            <a:ext cx="11338560" cy="127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537960"/>
            <a:ext cx="9144000" cy="256032"/>
          </a:xfrm>
          <a:prstGeom prst="rect">
            <a:avLst/>
          </a:prstGeom>
          <a:noFill/>
        </p:spPr>
        <p:txBody>
          <a:bodyPr wrap="square">
            <a:spAutoFit/>
          </a:bodyPr>
          <a:lstStyle/>
          <a:p>
            <a:pPr algn="l">
              <a:spcAft>
                <a:spcPts val="400"/>
              </a:spcAft>
            </a:pPr>
            <a:r>
              <a:rPr sz="1100" b="0">
                <a:solidFill>
                  <a:srgbClr val="5A5A5A"/>
                </a:solidFill>
                <a:latin typeface="Calibri"/>
              </a:rPr>
              <a:t>WaveCatBoost: Hybrid Air Quality Forecasting</a:t>
            </a:r>
          </a:p>
        </p:txBody>
      </p:sp>
      <p:sp>
        <p:nvSpPr>
          <p:cNvPr id="5" name="TextBox 4"/>
          <p:cNvSpPr txBox="1"/>
          <p:nvPr/>
        </p:nvSpPr>
        <p:spPr>
          <a:xfrm>
            <a:off x="11155680" y="6537960"/>
            <a:ext cx="640080" cy="256032"/>
          </a:xfrm>
          <a:prstGeom prst="rect">
            <a:avLst/>
          </a:prstGeom>
          <a:noFill/>
        </p:spPr>
        <p:txBody>
          <a:bodyPr wrap="square">
            <a:spAutoFit/>
          </a:bodyPr>
          <a:lstStyle/>
          <a:p>
            <a:pPr algn="r">
              <a:spcAft>
                <a:spcPts val="400"/>
              </a:spcAft>
            </a:pPr>
            <a:r>
              <a:rPr sz="1100" b="0">
                <a:solidFill>
                  <a:srgbClr val="5A5A5A"/>
                </a:solidFill>
                <a:latin typeface="Calibri"/>
              </a:rPr>
              <a:t>23</a:t>
            </a:r>
          </a:p>
        </p:txBody>
      </p:sp>
      <p:sp>
        <p:nvSpPr>
          <p:cNvPr id="6" name="TextBox 5"/>
          <p:cNvSpPr txBox="1"/>
          <p:nvPr/>
        </p:nvSpPr>
        <p:spPr>
          <a:xfrm>
            <a:off x="411480" y="804672"/>
            <a:ext cx="11338560" cy="411480"/>
          </a:xfrm>
          <a:prstGeom prst="rect">
            <a:avLst/>
          </a:prstGeom>
          <a:noFill/>
        </p:spPr>
        <p:txBody>
          <a:bodyPr wrap="square">
            <a:spAutoFit/>
          </a:bodyPr>
          <a:lstStyle/>
          <a:p>
            <a:pPr algn="l">
              <a:spcAft>
                <a:spcPts val="400"/>
              </a:spcAft>
            </a:pPr>
            <a:r>
              <a:rPr sz="1500" b="0">
                <a:solidFill>
                  <a:srgbClr val="5A5A5A"/>
                </a:solidFill>
                <a:latin typeface="Calibri"/>
              </a:rPr>
              <a:t>EMD peels Intrinsic Mode Functions from the data. No Haar / D4 / LA8 bank is chosen in advance.</a:t>
            </a:r>
          </a:p>
        </p:txBody>
      </p:sp>
      <p:sp>
        <p:nvSpPr>
          <p:cNvPr id="7" name="Rectangle 6"/>
          <p:cNvSpPr/>
          <p:nvPr/>
        </p:nvSpPr>
        <p:spPr>
          <a:xfrm>
            <a:off x="411480" y="1325880"/>
            <a:ext cx="11338560" cy="1234440"/>
          </a:xfrm>
          <a:prstGeom prst="rect">
            <a:avLst/>
          </a:prstGeom>
          <a:solidFill>
            <a:srgbClr val="F7F9FB"/>
          </a:solidFill>
          <a:ln w="9525">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417320"/>
            <a:ext cx="10972800" cy="1005840"/>
          </a:xfrm>
          <a:prstGeom prst="rect">
            <a:avLst/>
          </a:prstGeom>
          <a:noFill/>
        </p:spPr>
        <p:txBody>
          <a:bodyPr wrap="square">
            <a:spAutoFit/>
          </a:bodyPr>
          <a:lstStyle/>
          <a:p>
            <a:pPr algn="l">
              <a:spcAft>
                <a:spcPts val="400"/>
              </a:spcAft>
            </a:pPr>
            <a:r>
              <a:rPr sz="1800" b="1">
                <a:solidFill>
                  <a:srgbClr val="1F3A5F"/>
                </a:solidFill>
                <a:latin typeface="Calibri"/>
              </a:rPr>
              <a:t>Y_t  =  IMF_1(t) + … + IMF_K(t) + r(t)</a:t>
            </a:r>
          </a:p>
          <a:p>
            <a:pPr algn="l">
              <a:spcAft>
                <a:spcPts val="400"/>
              </a:spcAft>
            </a:pPr>
            <a:r>
              <a:rPr sz="1500" b="0">
                <a:solidFill>
                  <a:srgbClr val="222222"/>
                </a:solidFill>
                <a:latin typeface="Calibri"/>
              </a:rPr>
              <a:t>We map IMF_1 → D_1, IMF_2 → D_2, … and put the residue in S_K, then use the same CatBoost / LightGBM head as WaveCatBoost.</a:t>
            </a:r>
          </a:p>
        </p:txBody>
      </p:sp>
      <p:sp>
        <p:nvSpPr>
          <p:cNvPr id="9" name="Rectangle 8"/>
          <p:cNvSpPr/>
          <p:nvPr/>
        </p:nvSpPr>
        <p:spPr>
          <a:xfrm>
            <a:off x="411480" y="2743200"/>
            <a:ext cx="5532120" cy="3383280"/>
          </a:xfrm>
          <a:prstGeom prst="rect">
            <a:avLst/>
          </a:prstGeom>
          <a:solidFill>
            <a:srgbClr val="F7F9FB"/>
          </a:solidFill>
          <a:ln w="9525">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2743200"/>
            <a:ext cx="5532120" cy="3383280"/>
          </a:xfrm>
          <a:prstGeom prst="rect">
            <a:avLst/>
          </a:prstGeom>
          <a:solidFill>
            <a:srgbClr val="F7F9FB"/>
          </a:solidFill>
          <a:ln w="9525">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880360"/>
            <a:ext cx="5212080" cy="3108960"/>
          </a:xfrm>
          <a:prstGeom prst="rect">
            <a:avLst/>
          </a:prstGeom>
          <a:noFill/>
        </p:spPr>
        <p:txBody>
          <a:bodyPr wrap="square">
            <a:spAutoFit/>
          </a:bodyPr>
          <a:lstStyle/>
          <a:p>
            <a:pPr algn="l">
              <a:spcAft>
                <a:spcPts val="400"/>
              </a:spcAft>
            </a:pPr>
            <a:r>
              <a:rPr sz="1600" b="1">
                <a:solidFill>
                  <a:srgbClr val="1F3A5F"/>
                </a:solidFill>
                <a:latin typeface="Calibri"/>
              </a:rPr>
              <a:t>What EMD gives</a:t>
            </a:r>
          </a:p>
          <a:p>
            <a:pPr algn="l">
              <a:spcAft>
                <a:spcPts val="400"/>
              </a:spcAft>
            </a:pPr>
            <a:r>
              <a:rPr sz="1500" b="0">
                <a:solidFill>
                  <a:srgbClr val="222222"/>
                </a:solidFill>
                <a:latin typeface="Calibri"/>
              </a:rPr>
              <a:t>Bands adapt to the series, so a rare dust event need not sit in a fixed 2–4 h octave.</a:t>
            </a:r>
          </a:p>
          <a:p>
            <a:pPr algn="l">
              <a:spcAft>
                <a:spcPts val="400"/>
              </a:spcAft>
            </a:pPr>
            <a:r>
              <a:rPr sz="1500" b="0">
                <a:solidFill>
                  <a:srgbClr val="222222"/>
                </a:solidFill>
                <a:latin typeface="Calibri"/>
              </a:rPr>
              <a:t>Reconstruction is exact: IMFs plus residue return Y_t.</a:t>
            </a:r>
          </a:p>
          <a:p>
            <a:pPr algn="l">
              <a:spcAft>
                <a:spcPts val="400"/>
              </a:spcAft>
            </a:pPr>
            <a:r>
              <a:rPr sz="1500" b="0">
                <a:solidFill>
                  <a:srgbClr val="222222"/>
                </a:solidFill>
                <a:latin typeface="Calibri"/>
              </a:rPr>
              <a:t>Shown on the first 500 hours in analysis.Rmd §10.3.</a:t>
            </a:r>
          </a:p>
        </p:txBody>
      </p:sp>
      <p:sp>
        <p:nvSpPr>
          <p:cNvPr id="12" name="TextBox 11"/>
          <p:cNvSpPr txBox="1"/>
          <p:nvPr/>
        </p:nvSpPr>
        <p:spPr>
          <a:xfrm>
            <a:off x="6400800" y="2880360"/>
            <a:ext cx="5212080" cy="3108960"/>
          </a:xfrm>
          <a:prstGeom prst="rect">
            <a:avLst/>
          </a:prstGeom>
          <a:noFill/>
        </p:spPr>
        <p:txBody>
          <a:bodyPr wrap="square">
            <a:spAutoFit/>
          </a:bodyPr>
          <a:lstStyle/>
          <a:p>
            <a:pPr algn="l">
              <a:spcAft>
                <a:spcPts val="400"/>
              </a:spcAft>
            </a:pPr>
            <a:r>
              <a:rPr sz="1600" b="1">
                <a:solidFill>
                  <a:srgbClr val="A64B2A"/>
                </a:solidFill>
                <a:latin typeface="Calibri"/>
              </a:rPr>
              <a:t>Why Haar still wins as the default</a:t>
            </a:r>
          </a:p>
          <a:p>
            <a:pPr algn="l">
              <a:spcAft>
                <a:spcPts val="400"/>
              </a:spcAft>
            </a:pPr>
            <a:r>
              <a:rPr sz="1500" b="0">
                <a:solidFill>
                  <a:srgbClr val="222222"/>
                </a:solidFill>
                <a:latin typeface="Calibri"/>
              </a:rPr>
              <a:t>Mode mixing: two different events with a similar local period can land in one IMF.</a:t>
            </a:r>
          </a:p>
          <a:p>
            <a:pPr algn="l">
              <a:spcAft>
                <a:spcPts val="400"/>
              </a:spcAft>
            </a:pPr>
            <a:r>
              <a:rPr sz="1500" b="0">
                <a:solidFill>
                  <a:srgbClr val="222222"/>
                </a:solidFill>
                <a:latin typeface="Calibri"/>
              </a:rPr>
              <a:t>Cost is much higher than O(N K) Haar.</a:t>
            </a:r>
          </a:p>
          <a:p>
            <a:pPr algn="l">
              <a:spcAft>
                <a:spcPts val="400"/>
              </a:spcAft>
            </a:pPr>
            <a:r>
              <a:rPr sz="1500" b="0">
                <a:solidFill>
                  <a:srgbClr val="222222"/>
                </a:solidFill>
                <a:latin typeface="Calibri"/>
              </a:rPr>
              <a:t>Haar D_1 is always the 2–4 h band, so lag features mean the same thing every day.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731520"/>
          </a:xfrm>
          <a:prstGeom prst="rect">
            <a:avLst/>
          </a:prstGeom>
          <a:noFill/>
        </p:spPr>
        <p:txBody>
          <a:bodyPr wrap="none">
            <a:spAutoFit/>
          </a:bodyPr>
          <a:lstStyle/>
          <a:p>
            <a:r>
              <a:rPr sz="3000" b="1" i="0">
                <a:solidFill>
                  <a:srgbClr val="1F3A5F"/>
                </a:solidFill>
                <a:latin typeface="Calibri"/>
              </a:rPr>
              <a:t>Final Takeaway</a:t>
            </a:r>
          </a:p>
        </p:txBody>
      </p:sp>
      <p:cxnSp>
        <p:nvCxnSpPr>
          <p:cNvPr id="3" name="Connector 2"/>
          <p:cNvCxnSpPr/>
          <p:nvPr/>
        </p:nvCxnSpPr>
        <p:spPr>
          <a:xfrm>
            <a:off x="548640" y="1051560"/>
            <a:ext cx="11091672" cy="0"/>
          </a:xfrm>
          <a:prstGeom prst="line">
            <a:avLst/>
          </a:prstGeom>
          <a:ln w="15875">
            <a:solidFill>
              <a:srgbClr val="1F3A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spAutoFit/>
          </a:bodyPr>
          <a:lstStyle/>
          <a:p>
            <a:pPr algn="l">
              <a:spcAft>
                <a:spcPts val="600"/>
              </a:spcAft>
            </a:pPr>
            <a:r>
              <a:rPr sz="1100" b="0" i="0">
                <a:solidFill>
                  <a:srgbClr val="6B6B6B"/>
                </a:solidFill>
                <a:latin typeface="Calibri"/>
              </a:rPr>
              <a:t>WaveCatBoost: Hybrid Air Quality Forecasting</a:t>
            </a:r>
          </a:p>
        </p:txBody>
      </p:sp>
      <p:sp>
        <p:nvSpPr>
          <p:cNvPr id="5" name="TextBox 4"/>
          <p:cNvSpPr txBox="1"/>
          <p:nvPr/>
        </p:nvSpPr>
        <p:spPr>
          <a:xfrm>
            <a:off x="10972800" y="6400800"/>
            <a:ext cx="667512" cy="320040"/>
          </a:xfrm>
          <a:prstGeom prst="rect">
            <a:avLst/>
          </a:prstGeom>
          <a:noFill/>
        </p:spPr>
        <p:txBody>
          <a:bodyPr wrap="square">
            <a:spAutoFit/>
          </a:bodyPr>
          <a:lstStyle/>
          <a:p>
            <a:pPr algn="r">
              <a:spcAft>
                <a:spcPts val="600"/>
              </a:spcAft>
            </a:pPr>
            <a:r>
              <a:rPr sz="1100" b="0" i="0">
                <a:solidFill>
                  <a:srgbClr val="6B6B6B"/>
                </a:solidFill>
                <a:latin typeface="Calibri"/>
              </a:rPr>
              <a:t>24</a:t>
            </a:r>
          </a:p>
        </p:txBody>
      </p:sp>
      <p:sp>
        <p:nvSpPr>
          <p:cNvPr id="6" name="Rectangle 5"/>
          <p:cNvSpPr/>
          <p:nvPr/>
        </p:nvSpPr>
        <p:spPr>
          <a:xfrm>
            <a:off x="548640" y="1325880"/>
            <a:ext cx="5394960" cy="150876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a:solidFill>
                  <a:srgbClr val="1F3A5F"/>
                </a:solidFill>
                <a:latin typeface="Calibri"/>
              </a:rPr>
              <a:t>1. Decompose</a:t>
            </a:r>
          </a:p>
        </p:txBody>
      </p:sp>
      <p:pic>
        <p:nvPicPr>
          <p:cNvPr id="7" name="Picture 6" descr="eq_35.png"/>
          <p:cNvPicPr>
            <a:picLocks noChangeAspect="1"/>
          </p:cNvPicPr>
          <p:nvPr/>
        </p:nvPicPr>
        <p:blipFill>
          <a:blip r:embed="rId3"/>
          <a:stretch>
            <a:fillRect/>
          </a:stretch>
        </p:blipFill>
        <p:spPr>
          <a:xfrm>
            <a:off x="777240" y="1874519"/>
            <a:ext cx="2615184" cy="911352"/>
          </a:xfrm>
          <a:prstGeom prst="rect">
            <a:avLst/>
          </a:prstGeom>
        </p:spPr>
      </p:pic>
      <p:sp>
        <p:nvSpPr>
          <p:cNvPr id="8" name="Rectangle 7"/>
          <p:cNvSpPr/>
          <p:nvPr/>
        </p:nvSpPr>
        <p:spPr>
          <a:xfrm>
            <a:off x="6217920" y="1325880"/>
            <a:ext cx="5394960" cy="150876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a:solidFill>
                  <a:srgbClr val="1F3A5F"/>
                </a:solidFill>
                <a:latin typeface="Calibri"/>
              </a:rPr>
              <a:t>2. Forecast</a:t>
            </a:r>
          </a:p>
        </p:txBody>
      </p:sp>
      <p:pic>
        <p:nvPicPr>
          <p:cNvPr id="9" name="Picture 8" descr="eq_36.png"/>
          <p:cNvPicPr>
            <a:picLocks noChangeAspect="1"/>
          </p:cNvPicPr>
          <p:nvPr/>
        </p:nvPicPr>
        <p:blipFill>
          <a:blip r:embed="rId4"/>
          <a:stretch>
            <a:fillRect/>
          </a:stretch>
        </p:blipFill>
        <p:spPr>
          <a:xfrm>
            <a:off x="6446520" y="1874519"/>
            <a:ext cx="3846576" cy="454152"/>
          </a:xfrm>
          <a:prstGeom prst="rect">
            <a:avLst/>
          </a:prstGeom>
        </p:spPr>
      </p:pic>
      <p:sp>
        <p:nvSpPr>
          <p:cNvPr id="10" name="Rectangle 9"/>
          <p:cNvSpPr/>
          <p:nvPr/>
        </p:nvSpPr>
        <p:spPr>
          <a:xfrm>
            <a:off x="548640" y="3017520"/>
            <a:ext cx="5394960" cy="150876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a:solidFill>
                  <a:srgbClr val="1F3A5F"/>
                </a:solidFill>
                <a:latin typeface="Calibri"/>
              </a:rPr>
              <a:t>3. Reconstruct</a:t>
            </a:r>
          </a:p>
        </p:txBody>
      </p:sp>
      <p:pic>
        <p:nvPicPr>
          <p:cNvPr id="11" name="Picture 10" descr="eq_37.png"/>
          <p:cNvPicPr>
            <a:picLocks noChangeAspect="1"/>
          </p:cNvPicPr>
          <p:nvPr/>
        </p:nvPicPr>
        <p:blipFill>
          <a:blip r:embed="rId5"/>
          <a:stretch>
            <a:fillRect/>
          </a:stretch>
        </p:blipFill>
        <p:spPr>
          <a:xfrm>
            <a:off x="777240" y="3566160"/>
            <a:ext cx="4629912" cy="438912"/>
          </a:xfrm>
          <a:prstGeom prst="rect">
            <a:avLst/>
          </a:prstGeom>
        </p:spPr>
      </p:pic>
      <p:sp>
        <p:nvSpPr>
          <p:cNvPr id="12" name="Rectangle 11"/>
          <p:cNvSpPr/>
          <p:nvPr/>
        </p:nvSpPr>
        <p:spPr>
          <a:xfrm>
            <a:off x="6217920" y="3017520"/>
            <a:ext cx="5394960" cy="1508760"/>
          </a:xfrm>
          <a:prstGeom prst="rect">
            <a:avLst/>
          </a:prstGeom>
          <a:solidFill>
            <a:srgbClr val="EEF1F5"/>
          </a:solidFill>
          <a:ln>
            <a:solidFill>
              <a:srgbClr val="C8CFD8"/>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r>
              <a:rPr sz="1700" b="1" i="0">
                <a:solidFill>
                  <a:srgbClr val="1F3A5F"/>
                </a:solidFill>
                <a:latin typeface="Calibri"/>
              </a:rPr>
              <a:t>4. Quantify uncertainty</a:t>
            </a:r>
          </a:p>
        </p:txBody>
      </p:sp>
      <p:pic>
        <p:nvPicPr>
          <p:cNvPr id="13" name="Picture 12" descr="eq_38.png"/>
          <p:cNvPicPr>
            <a:picLocks noChangeAspect="1"/>
          </p:cNvPicPr>
          <p:nvPr/>
        </p:nvPicPr>
        <p:blipFill>
          <a:blip r:embed="rId6"/>
          <a:stretch>
            <a:fillRect/>
          </a:stretch>
        </p:blipFill>
        <p:spPr>
          <a:xfrm>
            <a:off x="6446520" y="3566160"/>
            <a:ext cx="2350008" cy="417576"/>
          </a:xfrm>
          <a:prstGeom prst="rect">
            <a:avLst/>
          </a:prstGeom>
        </p:spPr>
      </p:pic>
      <p:sp>
        <p:nvSpPr>
          <p:cNvPr id="14" name="TextBox 13"/>
          <p:cNvSpPr txBox="1"/>
          <p:nvPr/>
        </p:nvSpPr>
        <p:spPr>
          <a:xfrm>
            <a:off x="548640" y="4846320"/>
            <a:ext cx="11064240" cy="457200"/>
          </a:xfrm>
          <a:prstGeom prst="rect">
            <a:avLst/>
          </a:prstGeom>
          <a:noFill/>
        </p:spPr>
        <p:txBody>
          <a:bodyPr wrap="square">
            <a:spAutoFit/>
          </a:bodyPr>
          <a:lstStyle/>
          <a:p>
            <a:pPr algn="ctr">
              <a:spcAft>
                <a:spcPts val="600"/>
              </a:spcAft>
            </a:pPr>
            <a:r>
              <a:rPr sz="1500" b="0" i="0" dirty="0">
                <a:solidFill>
                  <a:srgbClr val="6B6B6B"/>
                </a:solidFill>
                <a:latin typeface="Calibri"/>
              </a:rPr>
              <a:t>Signal  →  MODWT  →  components  →  CatBoost models  →  inverse MODWT  →  conformal prediction  →  forecast + uncertainty</a:t>
            </a:r>
          </a:p>
        </p:txBody>
      </p:sp>
      <p:sp>
        <p:nvSpPr>
          <p:cNvPr id="15" name="TextBox 14"/>
          <p:cNvSpPr txBox="1"/>
          <p:nvPr/>
        </p:nvSpPr>
        <p:spPr>
          <a:xfrm>
            <a:off x="548640" y="5349240"/>
            <a:ext cx="11064240" cy="914400"/>
          </a:xfrm>
          <a:prstGeom prst="rect">
            <a:avLst/>
          </a:prstGeom>
          <a:noFill/>
        </p:spPr>
        <p:txBody>
          <a:bodyPr wrap="square">
            <a:spAutoFit/>
          </a:bodyPr>
          <a:lstStyle/>
          <a:p>
            <a:pPr algn="ctr">
              <a:spcAft>
                <a:spcPts val="600"/>
              </a:spcAft>
            </a:pPr>
            <a:r>
              <a:rPr sz="1900" b="1" i="0">
                <a:solidFill>
                  <a:srgbClr val="1F3A5F"/>
                </a:solidFill>
                <a:latin typeface="Calibri"/>
              </a:rPr>
              <a:t>First separate the signal into temporal components, forecast each one, reconstruct, then quantify how uncertain the forecast 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2610</Words>
  <Application>Microsoft Office PowerPoint</Application>
  <PresentationFormat>Widescreen</PresentationFormat>
  <Paragraphs>381</Paragraphs>
  <Slides>21</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Lalit Deshmane</dc:creator>
  <cp:keywords/>
  <dc:description>generated using python-pptx</dc:description>
  <cp:lastModifiedBy>Charan M</cp:lastModifiedBy>
  <cp:revision>4</cp:revision>
  <dcterms:created xsi:type="dcterms:W3CDTF">2013-01-27T09:14:16Z</dcterms:created>
  <dcterms:modified xsi:type="dcterms:W3CDTF">2026-10-08T10:29:11Z</dcterms:modified>
  <cp:category/>
</cp:coreProperties>
</file>